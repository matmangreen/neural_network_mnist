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5"/>
  </p:notesMasterIdLst>
  <p:sldIdLst>
    <p:sldId id="256" r:id="rId2"/>
    <p:sldId id="257" r:id="rId3"/>
    <p:sldId id="259" r:id="rId4"/>
    <p:sldId id="288" r:id="rId5"/>
    <p:sldId id="265" r:id="rId6"/>
    <p:sldId id="297" r:id="rId7"/>
    <p:sldId id="300" r:id="rId8"/>
    <p:sldId id="260" r:id="rId9"/>
    <p:sldId id="333" r:id="rId10"/>
    <p:sldId id="293" r:id="rId11"/>
    <p:sldId id="295" r:id="rId12"/>
    <p:sldId id="296" r:id="rId13"/>
    <p:sldId id="302" r:id="rId14"/>
    <p:sldId id="360" r:id="rId15"/>
    <p:sldId id="303" r:id="rId16"/>
    <p:sldId id="314" r:id="rId17"/>
    <p:sldId id="313" r:id="rId18"/>
    <p:sldId id="310" r:id="rId19"/>
    <p:sldId id="311" r:id="rId20"/>
    <p:sldId id="316" r:id="rId21"/>
    <p:sldId id="319" r:id="rId22"/>
    <p:sldId id="317" r:id="rId23"/>
    <p:sldId id="318" r:id="rId24"/>
    <p:sldId id="335" r:id="rId25"/>
    <p:sldId id="315" r:id="rId26"/>
    <p:sldId id="321" r:id="rId27"/>
    <p:sldId id="322" r:id="rId28"/>
    <p:sldId id="323" r:id="rId29"/>
    <p:sldId id="325" r:id="rId30"/>
    <p:sldId id="324" r:id="rId31"/>
    <p:sldId id="327" r:id="rId32"/>
    <p:sldId id="328" r:id="rId33"/>
    <p:sldId id="329" r:id="rId34"/>
    <p:sldId id="330" r:id="rId35"/>
    <p:sldId id="337" r:id="rId36"/>
    <p:sldId id="332" r:id="rId37"/>
    <p:sldId id="339" r:id="rId38"/>
    <p:sldId id="346" r:id="rId39"/>
    <p:sldId id="345" r:id="rId40"/>
    <p:sldId id="357" r:id="rId41"/>
    <p:sldId id="359" r:id="rId42"/>
    <p:sldId id="358" r:id="rId43"/>
    <p:sldId id="341" r:id="rId44"/>
    <p:sldId id="342" r:id="rId45"/>
    <p:sldId id="348" r:id="rId46"/>
    <p:sldId id="343" r:id="rId47"/>
    <p:sldId id="349" r:id="rId48"/>
    <p:sldId id="350" r:id="rId49"/>
    <p:sldId id="351" r:id="rId50"/>
    <p:sldId id="352" r:id="rId51"/>
    <p:sldId id="353" r:id="rId52"/>
    <p:sldId id="331" r:id="rId53"/>
    <p:sldId id="336" r:id="rId5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74EDB574-71A6-4BDB-96AF-4E1F4791C79A}">
          <p14:sldIdLst>
            <p14:sldId id="256"/>
          </p14:sldIdLst>
        </p14:section>
        <p14:section name="1 Einleitung" id="{B44D22E9-FD1E-4631-BE1B-D5A3DF5C3212}">
          <p14:sldIdLst>
            <p14:sldId id="257"/>
          </p14:sldIdLst>
        </p14:section>
        <p14:section name="2 Grundlagen" id="{DD698FAC-C1C0-4F3D-B7F5-F4591E66B839}">
          <p14:sldIdLst>
            <p14:sldId id="259"/>
            <p14:sldId id="288"/>
            <p14:sldId id="265"/>
            <p14:sldId id="297"/>
            <p14:sldId id="300"/>
          </p14:sldIdLst>
        </p14:section>
        <p14:section name="3 Mathe" id="{0EC6D684-2DAD-4076-A5F8-EFE9EFA8B2B5}">
          <p14:sldIdLst>
            <p14:sldId id="260"/>
            <p14:sldId id="333"/>
            <p14:sldId id="293"/>
            <p14:sldId id="295"/>
            <p14:sldId id="296"/>
            <p14:sldId id="302"/>
            <p14:sldId id="360"/>
            <p14:sldId id="303"/>
            <p14:sldId id="314"/>
            <p14:sldId id="313"/>
            <p14:sldId id="310"/>
            <p14:sldId id="311"/>
          </p14:sldIdLst>
        </p14:section>
        <p14:section name="4 Handschrifterkennung: Zahlen" id="{6E88E411-4EF9-4A94-A2AE-9D2A029D5017}">
          <p14:sldIdLst>
            <p14:sldId id="316"/>
            <p14:sldId id="319"/>
            <p14:sldId id="317"/>
            <p14:sldId id="318"/>
            <p14:sldId id="335"/>
            <p14:sldId id="315"/>
          </p14:sldIdLst>
        </p14:section>
        <p14:section name="5 Code Implementierung" id="{F1757373-B91A-4EE5-B028-E66319F94386}">
          <p14:sldIdLst>
            <p14:sldId id="321"/>
            <p14:sldId id="322"/>
            <p14:sldId id="323"/>
            <p14:sldId id="325"/>
            <p14:sldId id="324"/>
            <p14:sldId id="327"/>
            <p14:sldId id="328"/>
            <p14:sldId id="329"/>
            <p14:sldId id="330"/>
            <p14:sldId id="337"/>
          </p14:sldIdLst>
        </p14:section>
        <p14:section name="6 Evaluation" id="{DFF1B747-C9B4-4ACF-AC18-3774ACD5A5AA}">
          <p14:sldIdLst>
            <p14:sldId id="332"/>
          </p14:sldIdLst>
        </p14:section>
        <p14:section name="6.1 Gänige Paramter" id="{43EA73FA-1639-4842-9009-60A3CDBF206D}">
          <p14:sldIdLst>
            <p14:sldId id="339"/>
            <p14:sldId id="346"/>
            <p14:sldId id="345"/>
            <p14:sldId id="357"/>
            <p14:sldId id="359"/>
            <p14:sldId id="358"/>
          </p14:sldIdLst>
        </p14:section>
        <p14:section name="6.2 Unterschiedliche Parameter" id="{049222CE-2678-4364-9B5E-542E1DF36358}">
          <p14:sldIdLst>
            <p14:sldId id="341"/>
            <p14:sldId id="342"/>
            <p14:sldId id="348"/>
            <p14:sldId id="343"/>
            <p14:sldId id="349"/>
            <p14:sldId id="350"/>
            <p14:sldId id="351"/>
            <p14:sldId id="352"/>
          </p14:sldIdLst>
        </p14:section>
        <p14:section name="6.3 Generalization und Ockham's razor" id="{79DA1B5E-9E80-4BA9-9E91-C17736ED6633}">
          <p14:sldIdLst>
            <p14:sldId id="353"/>
          </p14:sldIdLst>
        </p14:section>
        <p14:section name="Fazit" id="{16407295-89CB-467A-BF91-25E3F9928BBA}">
          <p14:sldIdLst>
            <p14:sldId id="331"/>
            <p14:sldId id="33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59" autoAdjust="0"/>
    <p:restoredTop sz="94755" autoAdjust="0"/>
  </p:normalViewPr>
  <p:slideViewPr>
    <p:cSldViewPr snapToGrid="0">
      <p:cViewPr varScale="1">
        <p:scale>
          <a:sx n="86" d="100"/>
          <a:sy n="86" d="100"/>
        </p:scale>
        <p:origin x="684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3246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9FF7C4-0B9B-40B5-BC5A-4A1ECA096BF7}" type="datetimeFigureOut">
              <a:rPr lang="de-DE" smtClean="0"/>
              <a:t>19.02.2024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1D0FD1-C362-41FC-932E-878326E240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7404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5F12F0-3DE5-94BD-67C3-4C657F1716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326690"/>
            <a:ext cx="9144000" cy="110231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F0EA7D6-D814-25C8-A0C9-6B5AF23E0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11.02.2024</a:t>
            </a:r>
            <a:endParaRPr lang="de-DE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AF3948B-E477-03E5-8ECC-0A74F4682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Neuronale Netze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E388762-E822-0C26-810D-84794AB64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Mathis Grün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07402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5F12F0-3DE5-94BD-67C3-4C657F1716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58779"/>
            <a:ext cx="9144000" cy="110231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DB96EAD-AFAC-E959-3E3D-AAB73331AC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74758"/>
            <a:ext cx="9144000" cy="268304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F0EA7D6-D814-25C8-A0C9-6B5AF23E0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11.02.2024</a:t>
            </a:r>
            <a:endParaRPr lang="de-DE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AF3948B-E477-03E5-8ECC-0A74F4682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Neuronale Netze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E388762-E822-0C26-810D-84794AB64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Mathis Grün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8053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D878B0-CC9B-1F80-1867-F261CBFC8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0A32F6E-1405-A839-3068-E99C40584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8E82242-B3A3-00CA-0E6B-F80A640530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DB44A3C-FD16-48AC-AFCA-5C6C4FA71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11.02.2024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751E40D-FEDA-CB0F-D9C8-A04B40AA5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Neuronale Netze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9D5C094-5002-0D82-33B0-C987CC333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Mathis Grün</a:t>
            </a:r>
          </a:p>
        </p:txBody>
      </p:sp>
    </p:spTree>
    <p:extLst>
      <p:ext uri="{BB962C8B-B14F-4D97-AF65-F5344CB8AC3E}">
        <p14:creationId xmlns:p14="http://schemas.microsoft.com/office/powerpoint/2010/main" val="571387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0AE007-C71E-8F47-D92E-F6E2B728B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624F2E6-3021-DFAA-BA6D-9401029F15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F1AB7F9-B38B-5FBA-4C60-D0A1C74F92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CE008ED-7963-C661-322E-C6BBF91F5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11.02.2024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3A4F558-8008-7380-9426-CCB20D996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Neuronale Netze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0D7BF96-3476-D4B7-1342-4D03EA459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Mathis Grün</a:t>
            </a:r>
          </a:p>
        </p:txBody>
      </p:sp>
    </p:spTree>
    <p:extLst>
      <p:ext uri="{BB962C8B-B14F-4D97-AF65-F5344CB8AC3E}">
        <p14:creationId xmlns:p14="http://schemas.microsoft.com/office/powerpoint/2010/main" val="2058391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E842716-B51E-CA7A-38C0-36C951D0B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31CFE66-1FFD-5026-971A-DDCA3BF927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93ACA97-024F-58EA-357C-9B43DB78D8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DE"/>
              <a:t>11.02.2024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99CB2EF-C713-4D93-AE0B-F44A81DAB1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DE" dirty="0"/>
              <a:t>Neuronale Netze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1A8CBF1-9B40-716B-A45A-59C225B8CC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DE" dirty="0"/>
              <a:t>Mathis Grün</a:t>
            </a:r>
          </a:p>
        </p:txBody>
      </p:sp>
      <p:pic>
        <p:nvPicPr>
          <p:cNvPr id="8" name="Grafik 7" descr="Ein Bild, das Entwurf, Kunst enthält.&#10;&#10;Automatisch generierte Beschreibung">
            <a:extLst>
              <a:ext uri="{FF2B5EF4-FFF2-40B4-BE49-F238E27FC236}">
                <a16:creationId xmlns:a16="http://schemas.microsoft.com/office/drawing/2014/main" id="{4D4984CC-7FA0-F8C0-E1B3-40D7DD3B813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694" y="0"/>
            <a:ext cx="2009306" cy="1690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706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49" r:id="rId2"/>
    <p:sldLayoutId id="2147483656" r:id="rId3"/>
    <p:sldLayoutId id="2147483657" r:id="rId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9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7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8.png"/><Relationship Id="rId4" Type="http://schemas.openxmlformats.org/officeDocument/2006/relationships/image" Target="../media/image64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8.png"/><Relationship Id="rId4" Type="http://schemas.openxmlformats.org/officeDocument/2006/relationships/image" Target="../media/image65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EAF887C-1807-7930-6787-C72FC40FC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600" dirty="0"/>
              <a:t>KI-</a:t>
            </a:r>
            <a:r>
              <a:rPr lang="en-US" sz="4600" dirty="0" err="1"/>
              <a:t>Auswertungsanwendung</a:t>
            </a:r>
            <a:r>
              <a:rPr lang="en-US" sz="4600" dirty="0"/>
              <a:t>: </a:t>
            </a:r>
            <a:br>
              <a:rPr lang="en-US" sz="4600" dirty="0"/>
            </a:br>
            <a:r>
              <a:rPr lang="en-US" sz="4600" dirty="0" err="1"/>
              <a:t>Funktionsweise</a:t>
            </a:r>
            <a:r>
              <a:rPr lang="en-US" sz="4600" dirty="0"/>
              <a:t> &amp; Training</a:t>
            </a:r>
          </a:p>
        </p:txBody>
      </p:sp>
      <p:sp>
        <p:nvSpPr>
          <p:cNvPr id="23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C4C52DB-2082-A611-5E2A-17B87BA1DD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11.02.2024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F5DA66F-F574-891A-FB33-08592FFCD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kern="120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t>Neuronale Netze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E789116-F78B-0A61-CB28-535B2C812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Mathis Grün</a:t>
            </a:r>
          </a:p>
        </p:txBody>
      </p:sp>
      <p:pic>
        <p:nvPicPr>
          <p:cNvPr id="10" name="Grafik 9" descr="Ein Bild, das Screenshot, Symmetrie, Schwarz, Entwurf enthält.&#10;&#10;Automatisch generierte Beschreibung">
            <a:extLst>
              <a:ext uri="{FF2B5EF4-FFF2-40B4-BE49-F238E27FC236}">
                <a16:creationId xmlns:a16="http://schemas.microsoft.com/office/drawing/2014/main" id="{6C91D31D-78A6-6D89-D7B5-41F274E5F2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629" y="1620420"/>
            <a:ext cx="6903720" cy="4815343"/>
          </a:xfrm>
          <a:prstGeom prst="rect">
            <a:avLst/>
          </a:prstGeom>
        </p:spPr>
      </p:pic>
      <p:pic>
        <p:nvPicPr>
          <p:cNvPr id="11" name="Grafik 10" descr="Ein Bild, das Entwurf, Kunst enthält.&#10;&#10;Automatisch generierte Beschreibung">
            <a:extLst>
              <a:ext uri="{FF2B5EF4-FFF2-40B4-BE49-F238E27FC236}">
                <a16:creationId xmlns:a16="http://schemas.microsoft.com/office/drawing/2014/main" id="{DD083B26-CE87-934C-53CD-36C8CB6173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6185" y="0"/>
            <a:ext cx="1715815" cy="1443736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ABA92CAC-3E19-5428-D91D-50F927937678}"/>
              </a:ext>
            </a:extLst>
          </p:cNvPr>
          <p:cNvSpPr txBox="1"/>
          <p:nvPr/>
        </p:nvSpPr>
        <p:spPr>
          <a:xfrm>
            <a:off x="3263984" y="6096197"/>
            <a:ext cx="56715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chemeClr val="bg2">
                    <a:lumMod val="75000"/>
                  </a:schemeClr>
                </a:solidFill>
              </a:rPr>
              <a:t>https://thenounproject.com/icon/neural-network-6301591/</a:t>
            </a:r>
          </a:p>
        </p:txBody>
      </p:sp>
    </p:spTree>
    <p:extLst>
      <p:ext uri="{BB962C8B-B14F-4D97-AF65-F5344CB8AC3E}">
        <p14:creationId xmlns:p14="http://schemas.microsoft.com/office/powerpoint/2010/main" val="2461313798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20DF85D-EEC3-2EC8-7ECB-2522E33D0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1</a:t>
            </a:r>
            <a:r>
              <a:rPr lang="en-US" sz="5400"/>
              <a:t>. Einleitung</a:t>
            </a:r>
            <a:endParaRPr lang="en-US" sz="5400" dirty="0"/>
          </a:p>
        </p:txBody>
      </p:sp>
      <p:sp>
        <p:nvSpPr>
          <p:cNvPr id="31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F3F4381-07D4-C268-719A-FED9269DDE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2493" y="2071316"/>
            <a:ext cx="6713552" cy="411917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2200" dirty="0"/>
              <a:t>KI in der Schule</a:t>
            </a:r>
          </a:p>
          <a:p>
            <a:pPr marL="571500" lvl="1" indent="-2286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2200" dirty="0" err="1"/>
              <a:t>Ziel</a:t>
            </a:r>
            <a:r>
              <a:rPr lang="en-US" sz="2200" dirty="0"/>
              <a:t> des </a:t>
            </a:r>
            <a:r>
              <a:rPr lang="en-US" sz="2200" dirty="0" err="1"/>
              <a:t>Vortrages</a:t>
            </a:r>
            <a:r>
              <a:rPr lang="en-US" sz="2200" dirty="0"/>
              <a:t> 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228600"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pic>
        <p:nvPicPr>
          <p:cNvPr id="10" name="Grafik 9" descr="Ein Bild, das Zeichnung, Kreis, Entwurf, Grafiken enthält.&#10;&#10;Automatisch generierte Beschreibung">
            <a:extLst>
              <a:ext uri="{FF2B5EF4-FFF2-40B4-BE49-F238E27FC236}">
                <a16:creationId xmlns:a16="http://schemas.microsoft.com/office/drawing/2014/main" id="{E63E0E03-4B8C-5381-39F3-A774A8233A3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92" r="9585" b="4"/>
          <a:stretch/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910DC94-EB86-967B-BCDB-F0B71703C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11.02.2024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4D794CA-D347-E10D-D335-341393402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kern="120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t>Neuronale Netze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A40603F-D0B4-5DFD-A038-6D8461CD7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Mathis Grün</a:t>
            </a:r>
          </a:p>
        </p:txBody>
      </p:sp>
      <p:pic>
        <p:nvPicPr>
          <p:cNvPr id="8" name="Grafik 7" descr="Ein Bild, das Entwurf, Kunst enthält.&#10;&#10;Automatisch generierte Beschreibung">
            <a:extLst>
              <a:ext uri="{FF2B5EF4-FFF2-40B4-BE49-F238E27FC236}">
                <a16:creationId xmlns:a16="http://schemas.microsoft.com/office/drawing/2014/main" id="{C53313C7-52D2-827A-C02B-957856BFFF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6185" y="0"/>
            <a:ext cx="1715815" cy="1443736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C5CFA5DB-7ECB-6CD1-EB0D-8096EA15443A}"/>
              </a:ext>
            </a:extLst>
          </p:cNvPr>
          <p:cNvSpPr txBox="1"/>
          <p:nvPr/>
        </p:nvSpPr>
        <p:spPr>
          <a:xfrm>
            <a:off x="6810392" y="6100254"/>
            <a:ext cx="4961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chemeClr val="bg2">
                    <a:lumMod val="75000"/>
                  </a:schemeClr>
                </a:solidFill>
              </a:rPr>
              <a:t>https://thenounproject.com/icon/brain-target-5480820/</a:t>
            </a:r>
          </a:p>
        </p:txBody>
      </p:sp>
    </p:spTree>
    <p:extLst>
      <p:ext uri="{BB962C8B-B14F-4D97-AF65-F5344CB8AC3E}">
        <p14:creationId xmlns:p14="http://schemas.microsoft.com/office/powerpoint/2010/main" val="1576942601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400B54-EC7B-AB4B-1038-B7D1532EC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F129A9D-89EA-765E-0E8E-BDE1CD041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2. </a:t>
            </a:r>
            <a:r>
              <a:rPr lang="en-US" sz="5400" dirty="0" err="1"/>
              <a:t>Grundlagen</a:t>
            </a:r>
            <a:endParaRPr lang="en-US" sz="5400" dirty="0"/>
          </a:p>
        </p:txBody>
      </p:sp>
      <p:sp>
        <p:nvSpPr>
          <p:cNvPr id="37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CB423CE-6023-63B2-73F9-C0B096426C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2493" y="2071316"/>
            <a:ext cx="6713552" cy="411917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2200" dirty="0"/>
              <a:t>Was </a:t>
            </a:r>
            <a:r>
              <a:rPr lang="en-US" sz="2200" dirty="0" err="1"/>
              <a:t>ist</a:t>
            </a:r>
            <a:r>
              <a:rPr lang="en-US" sz="2200" dirty="0"/>
              <a:t> KI ?</a:t>
            </a:r>
          </a:p>
          <a:p>
            <a:pPr marL="114300"/>
            <a:endParaRPr lang="en-US" sz="2200" dirty="0"/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2200" dirty="0"/>
              <a:t>Wie </a:t>
            </a:r>
            <a:r>
              <a:rPr lang="en-US" sz="2200" dirty="0" err="1"/>
              <a:t>funktioniert</a:t>
            </a:r>
            <a:r>
              <a:rPr lang="en-US" sz="2200" dirty="0"/>
              <a:t> das </a:t>
            </a:r>
            <a:r>
              <a:rPr lang="en-US" sz="2200" dirty="0" err="1"/>
              <a:t>Ganze</a:t>
            </a:r>
            <a:r>
              <a:rPr lang="en-US" sz="2200" dirty="0"/>
              <a:t> ?</a:t>
            </a:r>
          </a:p>
          <a:p>
            <a:pPr marL="114300" indent="-228600"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pic>
        <p:nvPicPr>
          <p:cNvPr id="8" name="Grafik 7" descr="Ein Bild, das Entwurf, Zeichnung, Schwarz, Grafiken enthält.&#10;&#10;Automatisch generierte Beschreibung">
            <a:extLst>
              <a:ext uri="{FF2B5EF4-FFF2-40B4-BE49-F238E27FC236}">
                <a16:creationId xmlns:a16="http://schemas.microsoft.com/office/drawing/2014/main" id="{FD4033B6-3B15-FEE0-F5FB-68BB9DD0DAF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21" r="5164" b="3"/>
          <a:stretch/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E565BB1-C7DA-8EBE-FDE8-242B31A824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11.02.2024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92677E2-3187-6C24-A486-2E546B54F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kern="120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t>Neuronale Netze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C0B0D7C-F183-F314-153A-2E5D3E512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Mathis Grün</a:t>
            </a:r>
          </a:p>
        </p:txBody>
      </p:sp>
      <p:pic>
        <p:nvPicPr>
          <p:cNvPr id="7" name="Grafik 6" descr="Ein Bild, das Entwurf, Kunst enthält.&#10;&#10;Automatisch generierte Beschreibung">
            <a:extLst>
              <a:ext uri="{FF2B5EF4-FFF2-40B4-BE49-F238E27FC236}">
                <a16:creationId xmlns:a16="http://schemas.microsoft.com/office/drawing/2014/main" id="{1E811697-105D-FE77-8044-A0EB1B1202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6185" y="0"/>
            <a:ext cx="1715815" cy="1443736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E2321B75-713C-690E-F871-83BD3470C1EF}"/>
              </a:ext>
            </a:extLst>
          </p:cNvPr>
          <p:cNvSpPr txBox="1"/>
          <p:nvPr/>
        </p:nvSpPr>
        <p:spPr>
          <a:xfrm>
            <a:off x="7501670" y="6119531"/>
            <a:ext cx="43966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chemeClr val="bg2">
                    <a:lumMod val="75000"/>
                  </a:schemeClr>
                </a:solidFill>
              </a:rPr>
              <a:t>https://thenounproject.com/icon/learn-5726940/</a:t>
            </a:r>
          </a:p>
        </p:txBody>
      </p:sp>
    </p:spTree>
    <p:extLst>
      <p:ext uri="{BB962C8B-B14F-4D97-AF65-F5344CB8AC3E}">
        <p14:creationId xmlns:p14="http://schemas.microsoft.com/office/powerpoint/2010/main" val="2168804836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9AF36F-E31E-CA14-6E05-6E57A66E9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1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0D7B874-40DE-CD4D-EE41-EE807860C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2.1 </a:t>
            </a:r>
            <a:b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Was </a:t>
            </a:r>
            <a:r>
              <a:rPr lang="en-US" sz="3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ist</a:t>
            </a:r>
            <a: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KI</a:t>
            </a:r>
          </a:p>
        </p:txBody>
      </p:sp>
      <p:sp>
        <p:nvSpPr>
          <p:cNvPr id="50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2716318-03AE-8D83-C2D9-C6FD46341D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114300" indent="-228600">
              <a:buFont typeface="Arial" panose="020B0604020202020204" pitchFamily="34" charset="0"/>
              <a:buChar char="•"/>
            </a:pPr>
            <a:r>
              <a:rPr lang="en-US" sz="2200" dirty="0"/>
              <a:t>Definition</a:t>
            </a:r>
          </a:p>
          <a:p>
            <a:endParaRPr lang="en-US" sz="2200" dirty="0"/>
          </a:p>
          <a:p>
            <a:pPr marL="114300" indent="-228600">
              <a:buFont typeface="Arial" panose="020B0604020202020204" pitchFamily="34" charset="0"/>
              <a:buChar char="•"/>
            </a:pPr>
            <a:r>
              <a:rPr lang="en-US" sz="2200" dirty="0"/>
              <a:t>KI und </a:t>
            </a:r>
            <a:r>
              <a:rPr lang="en-US" sz="2200" dirty="0" err="1"/>
              <a:t>Neuronales</a:t>
            </a:r>
            <a:r>
              <a:rPr lang="en-US" sz="2200" dirty="0"/>
              <a:t> </a:t>
            </a:r>
            <a:r>
              <a:rPr lang="en-US" sz="2200" dirty="0" err="1"/>
              <a:t>Netz</a:t>
            </a:r>
            <a:endParaRPr lang="en-US" sz="2200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2FB645B8-FAFD-3B38-3595-010AF755116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05" b="-1"/>
          <a:stretch/>
        </p:blipFill>
        <p:spPr>
          <a:xfrm>
            <a:off x="6096000" y="709295"/>
            <a:ext cx="5594747" cy="5577840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B5373F1-8823-5FAD-AF49-DAC0681FA3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11.02.2024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0803689-9CED-78CE-F240-C462DBCCF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Neuronale Netze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8FD77AC-5FB9-D122-0F36-D525ACEFD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Mathis Grün</a:t>
            </a:r>
          </a:p>
        </p:txBody>
      </p:sp>
      <p:pic>
        <p:nvPicPr>
          <p:cNvPr id="7" name="Grafik 6" descr="Ein Bild, das Entwurf, Kunst enthält.&#10;&#10;Automatisch generierte Beschreibung">
            <a:extLst>
              <a:ext uri="{FF2B5EF4-FFF2-40B4-BE49-F238E27FC236}">
                <a16:creationId xmlns:a16="http://schemas.microsoft.com/office/drawing/2014/main" id="{33A5E2D2-E215-A522-9D21-F6C092F4BA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6185" y="0"/>
            <a:ext cx="1715815" cy="1443736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6A8399EB-E305-29B9-370A-38301BF91742}"/>
              </a:ext>
            </a:extLst>
          </p:cNvPr>
          <p:cNvSpPr txBox="1"/>
          <p:nvPr/>
        </p:nvSpPr>
        <p:spPr>
          <a:xfrm>
            <a:off x="6257563" y="6064031"/>
            <a:ext cx="4961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chemeClr val="bg2">
                    <a:lumMod val="75000"/>
                  </a:schemeClr>
                </a:solidFill>
              </a:rPr>
              <a:t>https://thenounproject.com/icon/learning-2626095/</a:t>
            </a:r>
          </a:p>
        </p:txBody>
      </p:sp>
    </p:spTree>
    <p:extLst>
      <p:ext uri="{BB962C8B-B14F-4D97-AF65-F5344CB8AC3E}">
        <p14:creationId xmlns:p14="http://schemas.microsoft.com/office/powerpoint/2010/main" val="3329230668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5017FB-EACB-74C2-9D76-DFD021E25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2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4C59447-7AEF-8BA8-F5EC-B90298EAA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5" y="639520"/>
            <a:ext cx="5118583" cy="2029258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4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2.2 </a:t>
            </a:r>
            <a:br>
              <a:rPr lang="en-US" sz="4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4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Wie </a:t>
            </a:r>
            <a:r>
              <a:rPr lang="en-US" sz="4200" dirty="0" err="1"/>
              <a:t>f</a:t>
            </a:r>
            <a:r>
              <a:rPr lang="en-US" sz="42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unktioniert</a:t>
            </a:r>
            <a:r>
              <a:rPr lang="en-US" sz="4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das </a:t>
            </a:r>
            <a:r>
              <a:rPr lang="en-US" sz="42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Ganze</a:t>
            </a:r>
            <a:br>
              <a:rPr lang="en-US" sz="2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2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5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54C27268-20BF-DD78-0360-5B5961123D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935" y="2807208"/>
            <a:ext cx="4114799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200" dirty="0" err="1"/>
              <a:t>Neuronale</a:t>
            </a:r>
            <a:r>
              <a:rPr lang="en-US" sz="2200" dirty="0"/>
              <a:t> </a:t>
            </a:r>
            <a:r>
              <a:rPr lang="en-US" sz="2200" dirty="0" err="1"/>
              <a:t>Struktur</a:t>
            </a:r>
            <a:endParaRPr lang="en-US" sz="2200" dirty="0"/>
          </a:p>
          <a:p>
            <a:pPr indent="-228600">
              <a:buFont typeface="Arial" panose="020B0604020202020204" pitchFamily="34" charset="0"/>
              <a:buChar char="•"/>
            </a:pPr>
            <a:endParaRPr lang="en-US" sz="2200" dirty="0"/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200" dirty="0"/>
              <a:t>Wie </a:t>
            </a:r>
            <a:r>
              <a:rPr lang="en-US" sz="2200" dirty="0" err="1"/>
              <a:t>lässt</a:t>
            </a:r>
            <a:r>
              <a:rPr lang="en-US" sz="2200" dirty="0"/>
              <a:t> </a:t>
            </a:r>
            <a:r>
              <a:rPr lang="en-US" sz="2200" dirty="0" err="1"/>
              <a:t>sich</a:t>
            </a:r>
            <a:r>
              <a:rPr lang="en-US" sz="2200" dirty="0"/>
              <a:t> das </a:t>
            </a:r>
            <a:r>
              <a:rPr lang="en-US" sz="2200" dirty="0" err="1"/>
              <a:t>darstellen</a:t>
            </a:r>
            <a:r>
              <a:rPr lang="en-US" sz="2200" dirty="0"/>
              <a:t> ?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pic>
        <p:nvPicPr>
          <p:cNvPr id="8" name="Grafik 7" descr="Ein Bild, das Zeichnung, Entwurf, Kinderkunst, Botanik enthält.&#10;&#10;Automatisch generierte Beschreibung">
            <a:extLst>
              <a:ext uri="{FF2B5EF4-FFF2-40B4-BE49-F238E27FC236}">
                <a16:creationId xmlns:a16="http://schemas.microsoft.com/office/drawing/2014/main" id="{212C0927-9252-1820-34E8-B40290EC82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9518" y="261207"/>
            <a:ext cx="4713274" cy="5577840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38D3449-95BD-3263-D3FC-FADA845E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11.02.2024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001096-F91F-4942-5B10-8EF87AC6D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Neuronale Netze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5F5482E-FC6B-3A0C-C5F0-0E3FF06ED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Mathis Grün</a:t>
            </a:r>
          </a:p>
        </p:txBody>
      </p:sp>
      <p:pic>
        <p:nvPicPr>
          <p:cNvPr id="3" name="Grafik 2" descr="Ein Bild, das Entwurf, Kunst enthält.&#10;&#10;Automatisch generierte Beschreibung">
            <a:extLst>
              <a:ext uri="{FF2B5EF4-FFF2-40B4-BE49-F238E27FC236}">
                <a16:creationId xmlns:a16="http://schemas.microsoft.com/office/drawing/2014/main" id="{FC12A32A-E107-6B76-FFAC-DB8FA3D30E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6185" y="0"/>
            <a:ext cx="1715815" cy="1443736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74D0DF4A-EBB2-311D-A672-28D077299A7B}"/>
              </a:ext>
            </a:extLst>
          </p:cNvPr>
          <p:cNvSpPr txBox="1"/>
          <p:nvPr/>
        </p:nvSpPr>
        <p:spPr>
          <a:xfrm>
            <a:off x="5749518" y="5910143"/>
            <a:ext cx="4961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chemeClr val="bg2">
                    <a:lumMod val="75000"/>
                  </a:schemeClr>
                </a:solidFill>
              </a:rPr>
              <a:t>Thesenpapier Abbildung 1</a:t>
            </a:r>
          </a:p>
        </p:txBody>
      </p:sp>
    </p:spTree>
    <p:extLst>
      <p:ext uri="{BB962C8B-B14F-4D97-AF65-F5344CB8AC3E}">
        <p14:creationId xmlns:p14="http://schemas.microsoft.com/office/powerpoint/2010/main" val="1442416738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8A93BF-8F96-D7DE-1710-34CAB401C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29">
            <a:extLst>
              <a:ext uri="{FF2B5EF4-FFF2-40B4-BE49-F238E27FC236}">
                <a16:creationId xmlns:a16="http://schemas.microsoft.com/office/drawing/2014/main" id="{F7A3116B-FF65-F936-73FA-041AFCDA2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37ED921-40B8-B2E1-E94D-04C000F1D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5" y="639520"/>
            <a:ext cx="5118583" cy="2029258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4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2.2</a:t>
            </a:r>
            <a:br>
              <a:rPr lang="en-US" sz="4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4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Wie </a:t>
            </a:r>
            <a:r>
              <a:rPr lang="en-US" sz="4200" dirty="0" err="1"/>
              <a:t>f</a:t>
            </a:r>
            <a:r>
              <a:rPr lang="en-US" sz="42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unktioniert</a:t>
            </a:r>
            <a:r>
              <a:rPr lang="en-US" sz="4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das </a:t>
            </a:r>
            <a:r>
              <a:rPr lang="en-US" sz="42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Ganze</a:t>
            </a:r>
            <a:br>
              <a:rPr lang="en-US" sz="2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2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5" name="sketch line">
            <a:extLst>
              <a:ext uri="{FF2B5EF4-FFF2-40B4-BE49-F238E27FC236}">
                <a16:creationId xmlns:a16="http://schemas.microsoft.com/office/drawing/2014/main" id="{A31E687D-E936-1268-D595-E16432E085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50F8251C-5345-9BD0-654C-61A39022B7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935" y="2807208"/>
            <a:ext cx="4264449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200" dirty="0"/>
              <a:t>Wie </a:t>
            </a:r>
            <a:r>
              <a:rPr lang="en-US" sz="2200" dirty="0" err="1"/>
              <a:t>denken</a:t>
            </a:r>
            <a:r>
              <a:rPr lang="en-US" sz="2200" dirty="0"/>
              <a:t> Menschen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2200" dirty="0"/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200" dirty="0"/>
              <a:t>Wie </a:t>
            </a:r>
            <a:r>
              <a:rPr lang="en-US" sz="2200" dirty="0" err="1"/>
              <a:t>macht</a:t>
            </a:r>
            <a:r>
              <a:rPr lang="en-US" sz="2200" dirty="0"/>
              <a:t> das </a:t>
            </a:r>
            <a:r>
              <a:rPr lang="en-US" sz="2200" dirty="0" err="1"/>
              <a:t>ein</a:t>
            </a:r>
            <a:r>
              <a:rPr lang="en-US" sz="2200" dirty="0"/>
              <a:t> Computer ?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463EDB1-AAAA-C1DC-728A-28BD9A7B87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11.02.2024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BBC779F-906D-399F-F908-46302D999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Neuronale Netze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AD224B5-F1A6-E8D9-0554-BAC3A354A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Mathis Grün</a:t>
            </a:r>
          </a:p>
        </p:txBody>
      </p:sp>
      <p:pic>
        <p:nvPicPr>
          <p:cNvPr id="3" name="Grafik 2" descr="Ein Bild, das Text, Schrift, Grafiken, Diagramm enthält.&#10;&#10;Automatisch generierte Beschreibung">
            <a:extLst>
              <a:ext uri="{FF2B5EF4-FFF2-40B4-BE49-F238E27FC236}">
                <a16:creationId xmlns:a16="http://schemas.microsoft.com/office/drawing/2014/main" id="{542F9BBC-7ADB-795A-7C75-E916A1FEBE3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6" r="1675" b="4447"/>
          <a:stretch/>
        </p:blipFill>
        <p:spPr>
          <a:xfrm>
            <a:off x="5538710" y="985115"/>
            <a:ext cx="6181440" cy="1822093"/>
          </a:xfrm>
          <a:prstGeom prst="rect">
            <a:avLst/>
          </a:prstGeom>
        </p:spPr>
      </p:pic>
      <p:pic>
        <p:nvPicPr>
          <p:cNvPr id="9" name="Grafik 8" descr="Ein Bild, das Text, Schrift, Reihe, Grafiken enthält.&#10;&#10;Automatisch generierte Beschreibung">
            <a:extLst>
              <a:ext uri="{FF2B5EF4-FFF2-40B4-BE49-F238E27FC236}">
                <a16:creationId xmlns:a16="http://schemas.microsoft.com/office/drawing/2014/main" id="{15C38E82-F52D-EF80-8715-7CFA737F4E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9879" y="3509734"/>
            <a:ext cx="6219101" cy="2005659"/>
          </a:xfrm>
          <a:prstGeom prst="rect">
            <a:avLst/>
          </a:prstGeom>
        </p:spPr>
      </p:pic>
      <p:pic>
        <p:nvPicPr>
          <p:cNvPr id="8" name="Grafik 7" descr="Ein Bild, das Entwurf, Kunst enthält.&#10;&#10;Automatisch generierte Beschreibung">
            <a:extLst>
              <a:ext uri="{FF2B5EF4-FFF2-40B4-BE49-F238E27FC236}">
                <a16:creationId xmlns:a16="http://schemas.microsoft.com/office/drawing/2014/main" id="{28B99F44-DDBD-AE61-3BE1-414F324092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6185" y="0"/>
            <a:ext cx="1715815" cy="1443736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84DE3E00-6BDC-18D1-73C2-00C373EECA90}"/>
              </a:ext>
            </a:extLst>
          </p:cNvPr>
          <p:cNvSpPr txBox="1"/>
          <p:nvPr/>
        </p:nvSpPr>
        <p:spPr>
          <a:xfrm>
            <a:off x="5377609" y="2854523"/>
            <a:ext cx="4961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chemeClr val="bg2">
                    <a:lumMod val="75000"/>
                  </a:schemeClr>
                </a:solidFill>
              </a:rPr>
              <a:t>Thesenpapier Abbildung 2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A3CDB03B-EC41-DC59-9806-376D8CD58E49}"/>
              </a:ext>
            </a:extLst>
          </p:cNvPr>
          <p:cNvSpPr txBox="1"/>
          <p:nvPr/>
        </p:nvSpPr>
        <p:spPr>
          <a:xfrm>
            <a:off x="5377609" y="5424036"/>
            <a:ext cx="4961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chemeClr val="bg2">
                    <a:lumMod val="75000"/>
                  </a:schemeClr>
                </a:solidFill>
              </a:rPr>
              <a:t>Thesenpapier Abbildung 3</a:t>
            </a:r>
          </a:p>
        </p:txBody>
      </p:sp>
    </p:spTree>
    <p:extLst>
      <p:ext uri="{BB962C8B-B14F-4D97-AF65-F5344CB8AC3E}">
        <p14:creationId xmlns:p14="http://schemas.microsoft.com/office/powerpoint/2010/main" val="9229720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142F4F-549F-D23E-29A0-79BD268AC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29">
            <a:extLst>
              <a:ext uri="{FF2B5EF4-FFF2-40B4-BE49-F238E27FC236}">
                <a16:creationId xmlns:a16="http://schemas.microsoft.com/office/drawing/2014/main" id="{D6C5B366-2BDC-7354-773F-7D97EB0A2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0415D63-B589-D7D9-EA78-F0037FC7D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5" y="639520"/>
            <a:ext cx="5118583" cy="2029258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4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2.2</a:t>
            </a:r>
            <a:b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4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Wie </a:t>
            </a:r>
            <a:r>
              <a:rPr lang="en-US" sz="4200" dirty="0" err="1"/>
              <a:t>f</a:t>
            </a:r>
            <a:r>
              <a:rPr lang="en-US" sz="42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unktioniert</a:t>
            </a:r>
            <a:r>
              <a:rPr lang="en-US" sz="4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das </a:t>
            </a:r>
            <a:r>
              <a:rPr lang="en-US" sz="42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Ganze</a:t>
            </a:r>
            <a:br>
              <a:rPr lang="en-US" sz="2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2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5" name="sketch line">
            <a:extLst>
              <a:ext uri="{FF2B5EF4-FFF2-40B4-BE49-F238E27FC236}">
                <a16:creationId xmlns:a16="http://schemas.microsoft.com/office/drawing/2014/main" id="{4209C22C-F421-D245-A6D1-D5936FE60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1BCFF8BD-C6D3-3648-6B17-0DA27A56B4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936" y="2807208"/>
            <a:ext cx="4196106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200" dirty="0" err="1"/>
              <a:t>Einfaches</a:t>
            </a:r>
            <a:r>
              <a:rPr lang="en-US" sz="2200" dirty="0"/>
              <a:t> </a:t>
            </a:r>
            <a:r>
              <a:rPr lang="en-US" sz="2200" dirty="0" err="1"/>
              <a:t>Neuronales</a:t>
            </a:r>
            <a:r>
              <a:rPr lang="en-US" sz="2200" dirty="0"/>
              <a:t> </a:t>
            </a:r>
            <a:r>
              <a:rPr lang="en-US" sz="2200" dirty="0" err="1"/>
              <a:t>Netz</a:t>
            </a:r>
            <a:endParaRPr lang="en-US" sz="2200" dirty="0"/>
          </a:p>
          <a:p>
            <a:pPr indent="-228600">
              <a:buFont typeface="Arial" panose="020B0604020202020204" pitchFamily="34" charset="0"/>
              <a:buChar char="•"/>
            </a:pPr>
            <a:endParaRPr lang="en-US" sz="2200" dirty="0"/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200" dirty="0" err="1"/>
              <a:t>Eingänge</a:t>
            </a:r>
            <a:r>
              <a:rPr lang="en-US" sz="2200" dirty="0"/>
              <a:t> und </a:t>
            </a:r>
            <a:r>
              <a:rPr lang="en-US" sz="2200" dirty="0" err="1"/>
              <a:t>Ausgänge</a:t>
            </a:r>
            <a:endParaRPr lang="en-US" sz="2200" dirty="0"/>
          </a:p>
          <a:p>
            <a:pPr indent="-228600">
              <a:buFont typeface="Arial" panose="020B0604020202020204" pitchFamily="34" charset="0"/>
              <a:buChar char="•"/>
            </a:pPr>
            <a:endParaRPr lang="en-US" sz="2200" dirty="0"/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200" dirty="0" err="1"/>
              <a:t>Gewichte</a:t>
            </a:r>
            <a:r>
              <a:rPr lang="en-US" sz="2200" dirty="0"/>
              <a:t> </a:t>
            </a:r>
            <a:r>
              <a:rPr lang="en-US" sz="2200" dirty="0" err="1"/>
              <a:t>mit</a:t>
            </a:r>
            <a:r>
              <a:rPr lang="en-US" sz="2200" dirty="0"/>
              <a:t> den </a:t>
            </a:r>
            <a:r>
              <a:rPr lang="en-US" sz="2200" dirty="0" err="1"/>
              <a:t>Eingängen</a:t>
            </a:r>
            <a:endParaRPr lang="en-US" sz="220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F176255-4C60-58EB-4E4B-0225FB8A8CE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11.02.2024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E99B3FB-AEF7-AEF2-0586-CE27B3F4F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Neuronale Netze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C30C0BB-B61F-415B-0BCE-889962A9D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Mathis Grün</a:t>
            </a:r>
          </a:p>
        </p:txBody>
      </p:sp>
      <p:pic>
        <p:nvPicPr>
          <p:cNvPr id="8" name="Grafik 7" descr="Ein Bild, das Diagramm, Text, Reihe, Kreis enthält.&#10;&#10;Automatisch generierte Beschreibung">
            <a:extLst>
              <a:ext uri="{FF2B5EF4-FFF2-40B4-BE49-F238E27FC236}">
                <a16:creationId xmlns:a16="http://schemas.microsoft.com/office/drawing/2014/main" id="{7BA469E6-EAF9-943D-E57F-AD53D8B486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7661" y="1654149"/>
            <a:ext cx="6903720" cy="4314825"/>
          </a:xfrm>
          <a:prstGeom prst="rect">
            <a:avLst/>
          </a:prstGeom>
        </p:spPr>
      </p:pic>
      <p:pic>
        <p:nvPicPr>
          <p:cNvPr id="3" name="Grafik 2" descr="Ein Bild, das Entwurf, Kunst enthält.&#10;&#10;Automatisch generierte Beschreibung">
            <a:extLst>
              <a:ext uri="{FF2B5EF4-FFF2-40B4-BE49-F238E27FC236}">
                <a16:creationId xmlns:a16="http://schemas.microsoft.com/office/drawing/2014/main" id="{4DC91B99-90B3-19F5-96DA-8FDDCB3A03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6185" y="0"/>
            <a:ext cx="1715815" cy="1443736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355A5356-38B8-0C80-04DE-307B40E2B3A6}"/>
              </a:ext>
            </a:extLst>
          </p:cNvPr>
          <p:cNvSpPr txBox="1"/>
          <p:nvPr/>
        </p:nvSpPr>
        <p:spPr>
          <a:xfrm>
            <a:off x="5140434" y="6008773"/>
            <a:ext cx="4961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chemeClr val="bg2">
                    <a:lumMod val="75000"/>
                  </a:schemeClr>
                </a:solidFill>
              </a:rPr>
              <a:t>Thesenpapier Abbildung 4</a:t>
            </a:r>
          </a:p>
        </p:txBody>
      </p:sp>
    </p:spTree>
    <p:extLst>
      <p:ext uri="{BB962C8B-B14F-4D97-AF65-F5344CB8AC3E}">
        <p14:creationId xmlns:p14="http://schemas.microsoft.com/office/powerpoint/2010/main" val="1685431789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3F6B6D-926C-C2D3-8EF0-E6EEE5BDB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1DE10AD-6BE0-425C-83BF-FCE33BEF6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3. </a:t>
            </a:r>
            <a:r>
              <a:rPr lang="en-US" sz="5400" dirty="0" err="1"/>
              <a:t>Mathematische</a:t>
            </a:r>
            <a:r>
              <a:rPr lang="en-US" sz="5400" dirty="0"/>
              <a:t> </a:t>
            </a:r>
            <a:r>
              <a:rPr lang="en-US" sz="5400" dirty="0" err="1"/>
              <a:t>Erläuterung</a:t>
            </a:r>
            <a:endParaRPr lang="en-US" sz="5400" dirty="0"/>
          </a:p>
        </p:txBody>
      </p:sp>
      <p:sp>
        <p:nvSpPr>
          <p:cNvPr id="32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D2D2077-5152-9FB9-D049-0F5D1D00CE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2493" y="2071316"/>
            <a:ext cx="6713552" cy="411917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228600">
              <a:buFont typeface="Arial" panose="020B0604020202020204" pitchFamily="34" charset="0"/>
              <a:buChar char="•"/>
            </a:pPr>
            <a:r>
              <a:rPr lang="en-US" sz="2200" dirty="0"/>
              <a:t>Simulation </a:t>
            </a:r>
            <a:r>
              <a:rPr lang="en-US" sz="2200" dirty="0" err="1"/>
              <a:t>eines</a:t>
            </a:r>
            <a:r>
              <a:rPr lang="en-US" sz="2200" dirty="0"/>
              <a:t> Neurons</a:t>
            </a:r>
          </a:p>
          <a:p>
            <a:pPr marL="114300" indent="-2286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457200" indent="-228600">
              <a:buFont typeface="Arial" panose="020B0604020202020204" pitchFamily="34" charset="0"/>
              <a:buChar char="•"/>
            </a:pPr>
            <a:r>
              <a:rPr lang="en-US" sz="2200" dirty="0" err="1"/>
              <a:t>Optimierungsalgorithmus</a:t>
            </a:r>
            <a:endParaRPr lang="en-US" sz="2200" dirty="0"/>
          </a:p>
          <a:p>
            <a:pPr marL="457200" indent="-2286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457200" indent="-228600">
              <a:buFont typeface="Arial" panose="020B0604020202020204" pitchFamily="34" charset="0"/>
              <a:buChar char="•"/>
            </a:pPr>
            <a:r>
              <a:rPr lang="en-US" sz="2200" dirty="0" err="1"/>
              <a:t>Gradientenverfahren</a:t>
            </a:r>
            <a:endParaRPr lang="en-US" sz="2200" dirty="0"/>
          </a:p>
        </p:txBody>
      </p:sp>
      <p:pic>
        <p:nvPicPr>
          <p:cNvPr id="11" name="Grafik 10" descr="Ein Bild, das Entwurf, Diagramm, Schwarz, Zeichnung enthält.&#10;&#10;Automatisch generierte Beschreibung">
            <a:extLst>
              <a:ext uri="{FF2B5EF4-FFF2-40B4-BE49-F238E27FC236}">
                <a16:creationId xmlns:a16="http://schemas.microsoft.com/office/drawing/2014/main" id="{EFE662B1-73E9-8497-316E-D52433ADD5C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76" r="12289" b="-1"/>
          <a:stretch/>
        </p:blipFill>
        <p:spPr>
          <a:xfrm>
            <a:off x="7678443" y="1875694"/>
            <a:ext cx="3941064" cy="4096512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E6E763-01F2-5D83-237B-85760E278D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11.02.2024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366175F-AC40-625C-0242-BEBEE9CE9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kern="120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t>Neuronale Netze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93C1C2A-A70C-AE14-0E30-6E3F7C9A2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Mathis Grün</a:t>
            </a:r>
          </a:p>
        </p:txBody>
      </p:sp>
      <p:pic>
        <p:nvPicPr>
          <p:cNvPr id="7" name="Grafik 6" descr="Ein Bild, das Entwurf, Kunst enthält.&#10;&#10;Automatisch generierte Beschreibung">
            <a:extLst>
              <a:ext uri="{FF2B5EF4-FFF2-40B4-BE49-F238E27FC236}">
                <a16:creationId xmlns:a16="http://schemas.microsoft.com/office/drawing/2014/main" id="{0CB2CF26-2A46-EA01-D160-FC5BEFF9E9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6185" y="0"/>
            <a:ext cx="1715815" cy="1443736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AB9FB293-D639-7761-C579-981C976D500F}"/>
              </a:ext>
            </a:extLst>
          </p:cNvPr>
          <p:cNvSpPr txBox="1"/>
          <p:nvPr/>
        </p:nvSpPr>
        <p:spPr>
          <a:xfrm>
            <a:off x="6810392" y="6100254"/>
            <a:ext cx="4961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chemeClr val="bg2">
                    <a:lumMod val="75000"/>
                  </a:schemeClr>
                </a:solidFill>
              </a:rPr>
              <a:t>https://thenounproject.com/icon/mathematics-3262801/</a:t>
            </a:r>
          </a:p>
        </p:txBody>
      </p:sp>
    </p:spTree>
    <p:extLst>
      <p:ext uri="{BB962C8B-B14F-4D97-AF65-F5344CB8AC3E}">
        <p14:creationId xmlns:p14="http://schemas.microsoft.com/office/powerpoint/2010/main" val="1109243163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04CA2-00DB-82B2-6658-31D0BDAE7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3F2C4E39-C090-3F92-C873-D185CC0D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C1C9548-C1DE-0B3A-A4F2-A60BB82AB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5465064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3.1.</a:t>
            </a:r>
            <a:b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Simulation </a:t>
            </a:r>
            <a:r>
              <a:rPr lang="en-US" sz="3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eines</a:t>
            </a:r>
            <a: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Neurons</a:t>
            </a:r>
          </a:p>
        </p:txBody>
      </p:sp>
      <p:sp>
        <p:nvSpPr>
          <p:cNvPr id="36" name="sketch line">
            <a:extLst>
              <a:ext uri="{FF2B5EF4-FFF2-40B4-BE49-F238E27FC236}">
                <a16:creationId xmlns:a16="http://schemas.microsoft.com/office/drawing/2014/main" id="{097A7BD6-7AE2-81E1-27FF-FE073D55F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3E24AF8-5C63-0A3E-6156-6295D800A7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11.02.2024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80FC093-E976-CC34-1510-DDE03987C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Neuronale Netze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1F0A253-0925-6EFA-77BB-50440BE99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Mathis Grün</a:t>
            </a:r>
          </a:p>
        </p:txBody>
      </p:sp>
      <p:pic>
        <p:nvPicPr>
          <p:cNvPr id="3" name="Grafik 2" descr="Ein Bild, das Text, Diagramm, Reihe, Schrift enthält.&#10;&#10;Automatisch generierte Beschreibung">
            <a:extLst>
              <a:ext uri="{FF2B5EF4-FFF2-40B4-BE49-F238E27FC236}">
                <a16:creationId xmlns:a16="http://schemas.microsoft.com/office/drawing/2014/main" id="{8503D82E-AE47-85D4-2C71-BBC2D96497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6604" y="2530712"/>
            <a:ext cx="7394448" cy="3660251"/>
          </a:xfrm>
          <a:prstGeom prst="rect">
            <a:avLst/>
          </a:prstGeom>
        </p:spPr>
      </p:pic>
      <p:pic>
        <p:nvPicPr>
          <p:cNvPr id="7" name="Grafik 6" descr="Ein Bild, das Entwurf, Kunst enthält.&#10;&#10;Automatisch generierte Beschreibung">
            <a:extLst>
              <a:ext uri="{FF2B5EF4-FFF2-40B4-BE49-F238E27FC236}">
                <a16:creationId xmlns:a16="http://schemas.microsoft.com/office/drawing/2014/main" id="{C5203934-023D-E89A-C8B5-800E182EF5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6185" y="0"/>
            <a:ext cx="1715815" cy="1443736"/>
          </a:xfrm>
          <a:prstGeom prst="rect">
            <a:avLst/>
          </a:prstGeom>
        </p:spPr>
      </p:pic>
      <p:sp>
        <p:nvSpPr>
          <p:cNvPr id="8" name="Textplatzhalter 8">
            <a:extLst>
              <a:ext uri="{FF2B5EF4-FFF2-40B4-BE49-F238E27FC236}">
                <a16:creationId xmlns:a16="http://schemas.microsoft.com/office/drawing/2014/main" id="{2A412446-DC93-EA98-9A27-E8E3D49AC7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935" y="2807208"/>
            <a:ext cx="4209256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200" dirty="0"/>
              <a:t>Wie </a:t>
            </a:r>
            <a:r>
              <a:rPr lang="en-US" sz="2200" dirty="0" err="1"/>
              <a:t>läuft</a:t>
            </a:r>
            <a:r>
              <a:rPr lang="en-US" sz="2200" dirty="0"/>
              <a:t> das </a:t>
            </a:r>
            <a:r>
              <a:rPr lang="en-US" sz="2200" dirty="0" err="1"/>
              <a:t>Nachdenken</a:t>
            </a:r>
            <a:r>
              <a:rPr lang="en-US" sz="2200" dirty="0"/>
              <a:t> ab ?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2200" dirty="0"/>
          </a:p>
          <a:p>
            <a:pPr indent="-228600"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F4DBEEF7-6CB7-672B-98D1-9A407E321C86}"/>
                  </a:ext>
                </a:extLst>
              </p:cNvPr>
              <p:cNvSpPr txBox="1"/>
              <p:nvPr/>
            </p:nvSpPr>
            <p:spPr>
              <a:xfrm>
                <a:off x="320856" y="4068522"/>
                <a:ext cx="4114800" cy="430887"/>
              </a:xfrm>
              <a:prstGeom prst="rect">
                <a:avLst/>
              </a:prstGeom>
              <a:noFill/>
              <a:ln w="3175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de-DE" sz="22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de-DE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2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de-DE" sz="2200" b="0" i="1" smtClean="0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de-DE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2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de-DE" sz="2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de-DE" sz="2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de-DE" sz="22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de-DE" sz="2200" b="0" i="1" smtClean="0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de-DE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2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de-DE" sz="22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de-DE" sz="2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de-DE" sz="22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de-DE" sz="2200" b="0" i="1" smtClean="0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de-DE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2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de-DE" sz="22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de-DE" sz="2200" b="0" i="1" smtClean="0"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lang="de-DE" sz="2200" b="0" dirty="0"/>
                  <a:t> </a:t>
                </a:r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F4DBEEF7-6CB7-672B-98D1-9A407E321C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856" y="4068522"/>
                <a:ext cx="4114800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17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feld 9">
            <a:extLst>
              <a:ext uri="{FF2B5EF4-FFF2-40B4-BE49-F238E27FC236}">
                <a16:creationId xmlns:a16="http://schemas.microsoft.com/office/drawing/2014/main" id="{4DF013F4-3E04-F334-29B9-856DD6C9F5F6}"/>
              </a:ext>
            </a:extLst>
          </p:cNvPr>
          <p:cNvSpPr txBox="1"/>
          <p:nvPr/>
        </p:nvSpPr>
        <p:spPr>
          <a:xfrm>
            <a:off x="5021139" y="6037074"/>
            <a:ext cx="4961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chemeClr val="bg2">
                    <a:lumMod val="75000"/>
                  </a:schemeClr>
                </a:solidFill>
              </a:rPr>
              <a:t>Thesenpapier Abbildung 5</a:t>
            </a:r>
          </a:p>
        </p:txBody>
      </p:sp>
    </p:spTree>
    <p:extLst>
      <p:ext uri="{BB962C8B-B14F-4D97-AF65-F5344CB8AC3E}">
        <p14:creationId xmlns:p14="http://schemas.microsoft.com/office/powerpoint/2010/main" val="304586156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262825-CD36-589D-639C-8D675AB84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3BCF377B-6FA1-8C25-A24E-CEEAB1D688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0B9A335-8961-39D0-6224-4529B69A2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5233854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3.1.</a:t>
            </a:r>
            <a:b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Simulation </a:t>
            </a:r>
            <a:r>
              <a:rPr lang="en-US" sz="3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eines</a:t>
            </a:r>
            <a: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Neurons</a:t>
            </a:r>
          </a:p>
        </p:txBody>
      </p:sp>
      <p:sp>
        <p:nvSpPr>
          <p:cNvPr id="36" name="sketch line">
            <a:extLst>
              <a:ext uri="{FF2B5EF4-FFF2-40B4-BE49-F238E27FC236}">
                <a16:creationId xmlns:a16="http://schemas.microsoft.com/office/drawing/2014/main" id="{E9BB1EFB-6BAF-6654-676E-28A625A208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7310B57-3AB7-63BC-A222-1490EDE82A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11.02.2024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20AA538-680E-1DA3-FD6A-8C5019194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Neuronale Netze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8B74B52-9E94-50CA-2E63-28861FD1D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Mathis Grün</a:t>
            </a:r>
          </a:p>
        </p:txBody>
      </p:sp>
      <p:pic>
        <p:nvPicPr>
          <p:cNvPr id="7" name="Grafik 6" descr="Ein Bild, das Text, Diagramm, Screenshot, Reihe enthält.&#10;&#10;Automatisch generierte Beschreibung">
            <a:extLst>
              <a:ext uri="{FF2B5EF4-FFF2-40B4-BE49-F238E27FC236}">
                <a16:creationId xmlns:a16="http://schemas.microsoft.com/office/drawing/2014/main" id="{4E66095C-A6A0-8EF5-436C-6E2D810D4D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7211" y="156971"/>
            <a:ext cx="4647915" cy="5591378"/>
          </a:xfrm>
          <a:prstGeom prst="rect">
            <a:avLst/>
          </a:prstGeom>
        </p:spPr>
      </p:pic>
      <p:pic>
        <p:nvPicPr>
          <p:cNvPr id="8" name="Grafik 7" descr="Ein Bild, das Text, Handschrift, Schrift, Kalligrafie enthält.&#10;&#10;Automatisch generierte Beschreibung">
            <a:extLst>
              <a:ext uri="{FF2B5EF4-FFF2-40B4-BE49-F238E27FC236}">
                <a16:creationId xmlns:a16="http://schemas.microsoft.com/office/drawing/2014/main" id="{910F60B1-B138-242A-B7E8-379C183EFC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890" y="4176762"/>
            <a:ext cx="7138966" cy="1160081"/>
          </a:xfrm>
          <a:prstGeom prst="rect">
            <a:avLst/>
          </a:prstGeom>
        </p:spPr>
      </p:pic>
      <p:pic>
        <p:nvPicPr>
          <p:cNvPr id="3" name="Grafik 2" descr="Ein Bild, das Entwurf, Kunst enthält.&#10;&#10;Automatisch generierte Beschreibung">
            <a:extLst>
              <a:ext uri="{FF2B5EF4-FFF2-40B4-BE49-F238E27FC236}">
                <a16:creationId xmlns:a16="http://schemas.microsoft.com/office/drawing/2014/main" id="{76E248FB-B6B7-7B6F-76E2-3023C5114D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6185" y="0"/>
            <a:ext cx="1715815" cy="1443736"/>
          </a:xfrm>
          <a:prstGeom prst="rect">
            <a:avLst/>
          </a:prstGeom>
        </p:spPr>
      </p:pic>
      <p:sp>
        <p:nvSpPr>
          <p:cNvPr id="9" name="Textplatzhalter 8">
            <a:extLst>
              <a:ext uri="{FF2B5EF4-FFF2-40B4-BE49-F238E27FC236}">
                <a16:creationId xmlns:a16="http://schemas.microsoft.com/office/drawing/2014/main" id="{915E256C-6F7C-B540-42CE-158A9A6C8B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935" y="2807208"/>
            <a:ext cx="4961061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200" dirty="0"/>
              <a:t>Wie </a:t>
            </a:r>
            <a:r>
              <a:rPr lang="en-US" sz="2200" dirty="0" err="1"/>
              <a:t>können</a:t>
            </a:r>
            <a:r>
              <a:rPr lang="en-US" sz="2200" dirty="0"/>
              <a:t> </a:t>
            </a:r>
            <a:r>
              <a:rPr lang="en-US" sz="2200" dirty="0" err="1"/>
              <a:t>wir</a:t>
            </a:r>
            <a:r>
              <a:rPr lang="en-US" sz="2200" dirty="0"/>
              <a:t> das </a:t>
            </a:r>
            <a:r>
              <a:rPr lang="en-US" sz="2200" dirty="0" err="1"/>
              <a:t>Ganze</a:t>
            </a:r>
            <a:r>
              <a:rPr lang="en-US" sz="2200" dirty="0"/>
              <a:t> </a:t>
            </a:r>
            <a:r>
              <a:rPr lang="en-US" sz="2200" dirty="0" err="1"/>
              <a:t>abkürzen</a:t>
            </a:r>
            <a:r>
              <a:rPr lang="en-US" sz="2200" dirty="0"/>
              <a:t> ?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64037D46-0140-D682-80E5-7679F303B6CC}"/>
              </a:ext>
            </a:extLst>
          </p:cNvPr>
          <p:cNvSpPr txBox="1"/>
          <p:nvPr/>
        </p:nvSpPr>
        <p:spPr>
          <a:xfrm>
            <a:off x="6845116" y="6104214"/>
            <a:ext cx="4961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chemeClr val="bg2">
                    <a:lumMod val="75000"/>
                  </a:schemeClr>
                </a:solidFill>
              </a:rPr>
              <a:t>Thesenpapier Abbildung 6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2D0EA2DA-BCC5-4D22-255F-8FE4FE2DFAB6}"/>
              </a:ext>
            </a:extLst>
          </p:cNvPr>
          <p:cNvSpPr txBox="1"/>
          <p:nvPr/>
        </p:nvSpPr>
        <p:spPr>
          <a:xfrm>
            <a:off x="446245" y="5336843"/>
            <a:ext cx="4961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chemeClr val="bg2">
                    <a:lumMod val="75000"/>
                  </a:schemeClr>
                </a:solidFill>
              </a:rPr>
              <a:t>Thesenpapier Abbildung 7</a:t>
            </a:r>
          </a:p>
        </p:txBody>
      </p:sp>
    </p:spTree>
    <p:extLst>
      <p:ext uri="{BB962C8B-B14F-4D97-AF65-F5344CB8AC3E}">
        <p14:creationId xmlns:p14="http://schemas.microsoft.com/office/powerpoint/2010/main" val="112094082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E34C72-97B1-9388-9306-491FBE836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E18F55DC-7578-A083-57DC-BBD9DE495E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6898BB8-C971-3A52-00EA-9D1ADE840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5" y="639520"/>
            <a:ext cx="5245757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3.1.</a:t>
            </a:r>
            <a:b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Simulation </a:t>
            </a:r>
            <a:r>
              <a:rPr lang="en-US" sz="3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eines</a:t>
            </a:r>
            <a: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Neurons</a:t>
            </a:r>
          </a:p>
        </p:txBody>
      </p:sp>
      <p:sp>
        <p:nvSpPr>
          <p:cNvPr id="36" name="sketch line">
            <a:extLst>
              <a:ext uri="{FF2B5EF4-FFF2-40B4-BE49-F238E27FC236}">
                <a16:creationId xmlns:a16="http://schemas.microsoft.com/office/drawing/2014/main" id="{4B9CE5F9-870B-53F6-A816-8C1BB4CE4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E12EE5E-ED1F-69B7-A5B2-360F3ADE9D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11.02.2024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D2605B0-FD89-7B5A-04BC-0103D9126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Neuronale Netze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F900530-9681-C819-70FF-2186DB9E2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Mathis Grün</a:t>
            </a:r>
          </a:p>
        </p:txBody>
      </p:sp>
      <p:pic>
        <p:nvPicPr>
          <p:cNvPr id="7" name="Grafik 6" descr="Ein Bild, das Entwurf, Kunst enthält.&#10;&#10;Automatisch generierte Beschreibung">
            <a:extLst>
              <a:ext uri="{FF2B5EF4-FFF2-40B4-BE49-F238E27FC236}">
                <a16:creationId xmlns:a16="http://schemas.microsoft.com/office/drawing/2014/main" id="{D57EF12F-3EF0-D3CF-CA04-2DC656C3A0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6185" y="0"/>
            <a:ext cx="1715815" cy="1443736"/>
          </a:xfrm>
          <a:prstGeom prst="rect">
            <a:avLst/>
          </a:prstGeom>
        </p:spPr>
      </p:pic>
      <p:pic>
        <p:nvPicPr>
          <p:cNvPr id="9" name="Grafik 8" descr="Ein Bild, das Text, Diagramm, Reihe, Schrift enthält.&#10;&#10;Automatisch generierte Beschreibung">
            <a:extLst>
              <a:ext uri="{FF2B5EF4-FFF2-40B4-BE49-F238E27FC236}">
                <a16:creationId xmlns:a16="http://schemas.microsoft.com/office/drawing/2014/main" id="{BB49615B-1C62-D6CB-928C-7CEC414A3F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6604" y="2530712"/>
            <a:ext cx="7394448" cy="3660251"/>
          </a:xfrm>
          <a:prstGeom prst="rect">
            <a:avLst/>
          </a:prstGeom>
        </p:spPr>
      </p:pic>
      <p:sp>
        <p:nvSpPr>
          <p:cNvPr id="10" name="Textplatzhalter 8">
            <a:extLst>
              <a:ext uri="{FF2B5EF4-FFF2-40B4-BE49-F238E27FC236}">
                <a16:creationId xmlns:a16="http://schemas.microsoft.com/office/drawing/2014/main" id="{4ECF1C78-440B-21E2-2D30-79F3AAF887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935" y="2807208"/>
            <a:ext cx="3985669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200" dirty="0" err="1"/>
              <a:t>Berechnung</a:t>
            </a:r>
            <a:r>
              <a:rPr lang="en-US" sz="2200" dirty="0"/>
              <a:t> des </a:t>
            </a:r>
            <a:r>
              <a:rPr lang="en-US" sz="2200" dirty="0" err="1"/>
              <a:t>Ausgangs</a:t>
            </a:r>
            <a:r>
              <a:rPr lang="en-US" sz="2200" dirty="0"/>
              <a:t> y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2200" dirty="0"/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200" dirty="0"/>
              <a:t>Sigmoid?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8E27BED2-5D86-6C72-903A-3CBA3039F186}"/>
              </a:ext>
            </a:extLst>
          </p:cNvPr>
          <p:cNvSpPr txBox="1"/>
          <p:nvPr/>
        </p:nvSpPr>
        <p:spPr>
          <a:xfrm>
            <a:off x="4840883" y="6064031"/>
            <a:ext cx="4961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chemeClr val="bg2">
                    <a:lumMod val="75000"/>
                  </a:schemeClr>
                </a:solidFill>
              </a:rPr>
              <a:t>Thesenpapier Abbildung 5</a:t>
            </a:r>
          </a:p>
        </p:txBody>
      </p:sp>
    </p:spTree>
    <p:extLst>
      <p:ext uri="{BB962C8B-B14F-4D97-AF65-F5344CB8AC3E}">
        <p14:creationId xmlns:p14="http://schemas.microsoft.com/office/powerpoint/2010/main" val="3976523916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2E5E2E-A76A-1B5A-4F00-57B56A2B7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EEB6E7C7-E6BA-1271-57FE-4B3EC9D64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6EEB4AF-E5D6-1E06-2A94-286CBC2D5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5334966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3.1.</a:t>
            </a:r>
            <a:b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Simulation </a:t>
            </a:r>
            <a:r>
              <a:rPr lang="en-US" sz="3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eines</a:t>
            </a:r>
            <a: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Neurons</a:t>
            </a:r>
          </a:p>
        </p:txBody>
      </p:sp>
      <p:sp>
        <p:nvSpPr>
          <p:cNvPr id="36" name="sketch line">
            <a:extLst>
              <a:ext uri="{FF2B5EF4-FFF2-40B4-BE49-F238E27FC236}">
                <a16:creationId xmlns:a16="http://schemas.microsoft.com/office/drawing/2014/main" id="{E4F1D196-D5CD-1D47-4937-4986A8B38F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53AF4D5-6421-E34E-56D2-C62F8AF42B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11.02.2024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4C8CA83-6B93-7513-56F5-4A384CFE8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Neuronale Netze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3ED6D88-FB97-113E-C4B2-127BE6103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Mathis Grün</a:t>
            </a:r>
          </a:p>
        </p:txBody>
      </p:sp>
      <p:pic>
        <p:nvPicPr>
          <p:cNvPr id="7" name="Grafik 6" descr="Ein Bild, das Reihe, Diagramm, Text enthält.&#10;&#10;Automatisch generierte Beschreibung">
            <a:extLst>
              <a:ext uri="{FF2B5EF4-FFF2-40B4-BE49-F238E27FC236}">
                <a16:creationId xmlns:a16="http://schemas.microsoft.com/office/drawing/2014/main" id="{1F5126F6-254A-8113-97C3-10D99158D8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048" y="801872"/>
            <a:ext cx="5458968" cy="525425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49F3096E-49FF-66C9-3600-4844ADBB6C37}"/>
                  </a:ext>
                </a:extLst>
              </p:cNvPr>
              <p:cNvSpPr txBox="1"/>
              <p:nvPr/>
            </p:nvSpPr>
            <p:spPr>
              <a:xfrm>
                <a:off x="7121652" y="2700284"/>
                <a:ext cx="3413760" cy="1025730"/>
              </a:xfrm>
              <a:prstGeom prst="rect">
                <a:avLst/>
              </a:prstGeom>
              <a:noFill/>
              <a:ln w="3175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2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de-DE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de-DE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sz="32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de-DE" sz="3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de-DE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de-DE" sz="2000" dirty="0"/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49F3096E-49FF-66C9-3600-4844ADBB6C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1652" y="2700284"/>
                <a:ext cx="3413760" cy="10257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17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C716C549-0F35-A8BF-B1E2-8736AEA70DF0}"/>
                  </a:ext>
                </a:extLst>
              </p:cNvPr>
              <p:cNvSpPr txBox="1"/>
              <p:nvPr/>
            </p:nvSpPr>
            <p:spPr>
              <a:xfrm>
                <a:off x="643278" y="4023520"/>
                <a:ext cx="3413760" cy="584775"/>
              </a:xfrm>
              <a:prstGeom prst="rect">
                <a:avLst/>
              </a:prstGeom>
              <a:noFill/>
              <a:ln w="3175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200" b="0" i="1" smtClean="0"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lang="de-DE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3200" b="0" i="1" smtClean="0">
                          <a:latin typeface="Cambria Math" panose="02040503050406030204" pitchFamily="18" charset="0"/>
                        </a:rPr>
                        <m:t>𝑠𝑖𝑔𝑚𝑜𝑖𝑑</m:t>
                      </m:r>
                      <m:d>
                        <m:dPr>
                          <m:ctrlPr>
                            <a:rPr lang="de-DE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de-DE" sz="3200" b="0" dirty="0"/>
              </a:p>
            </p:txBody>
          </p:sp>
        </mc:Choice>
        <mc:Fallback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C716C549-0F35-A8BF-B1E2-8736AEA70D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278" y="4023520"/>
                <a:ext cx="3413760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17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Grafik 2" descr="Ein Bild, das Entwurf, Kunst enthält.&#10;&#10;Automatisch generierte Beschreibung">
            <a:extLst>
              <a:ext uri="{FF2B5EF4-FFF2-40B4-BE49-F238E27FC236}">
                <a16:creationId xmlns:a16="http://schemas.microsoft.com/office/drawing/2014/main" id="{03CEC8A7-D04E-218A-3C1A-C77720EF28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6185" y="0"/>
            <a:ext cx="1715815" cy="1443736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231D00D4-9B9E-77B5-2351-54C2F4E7B68C}"/>
              </a:ext>
            </a:extLst>
          </p:cNvPr>
          <p:cNvSpPr txBox="1"/>
          <p:nvPr/>
        </p:nvSpPr>
        <p:spPr>
          <a:xfrm>
            <a:off x="6130069" y="6116104"/>
            <a:ext cx="4961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chemeClr val="bg2">
                    <a:lumMod val="75000"/>
                  </a:schemeClr>
                </a:solidFill>
              </a:rPr>
              <a:t>Thesenpapier Abbildung 8</a:t>
            </a:r>
          </a:p>
        </p:txBody>
      </p:sp>
    </p:spTree>
    <p:extLst>
      <p:ext uri="{BB962C8B-B14F-4D97-AF65-F5344CB8AC3E}">
        <p14:creationId xmlns:p14="http://schemas.microsoft.com/office/powerpoint/2010/main" val="13851828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EA7A05-E53E-3953-C98B-AC05148C3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0" name="Rectangle 59">
            <a:extLst>
              <a:ext uri="{FF2B5EF4-FFF2-40B4-BE49-F238E27FC236}">
                <a16:creationId xmlns:a16="http://schemas.microsoft.com/office/drawing/2014/main" id="{51777D1F-0E78-9590-D7CE-E2CAF91CC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sketch line">
            <a:extLst>
              <a:ext uri="{FF2B5EF4-FFF2-40B4-BE49-F238E27FC236}">
                <a16:creationId xmlns:a16="http://schemas.microsoft.com/office/drawing/2014/main" id="{8D575F6D-1E35-5FD1-F956-24429A112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82CF2A3-5F10-B628-FE34-6C52E92DB4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936" y="2807208"/>
            <a:ext cx="4766254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71500" indent="-342900" algn="l">
              <a:buFont typeface="Arial" panose="020B0604020202020204" pitchFamily="34" charset="0"/>
              <a:buChar char="•"/>
            </a:pPr>
            <a:r>
              <a:rPr lang="en-US" sz="2200" dirty="0" err="1"/>
              <a:t>Suche</a:t>
            </a:r>
            <a:r>
              <a:rPr lang="en-US" sz="2200" dirty="0"/>
              <a:t> </a:t>
            </a:r>
            <a:r>
              <a:rPr lang="en-US" sz="2200" dirty="0" err="1"/>
              <a:t>nach</a:t>
            </a:r>
            <a:r>
              <a:rPr lang="en-US" sz="2200" dirty="0"/>
              <a:t> dem Fehler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2BD7EFE-D124-FC4D-6865-816D352286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11.02.2024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2F4E82-CC8D-DC77-1378-2B5E86EC3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Neuronale Netze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63373AD-2FFC-48F7-45A6-B07E0202F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Mathis Grün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8EC0ACB1-8A53-B0FC-FA83-9E0972B71767}"/>
                  </a:ext>
                </a:extLst>
              </p:cNvPr>
              <p:cNvSpPr txBox="1"/>
              <p:nvPr/>
            </p:nvSpPr>
            <p:spPr>
              <a:xfrm>
                <a:off x="502920" y="4046103"/>
                <a:ext cx="3413760" cy="622735"/>
              </a:xfrm>
              <a:prstGeom prst="rect">
                <a:avLst/>
              </a:prstGeom>
              <a:noFill/>
              <a:ln w="3175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2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de-DE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32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e-DE" sz="3200" b="0" i="1" smtClean="0">
                          <a:latin typeface="Cambria Math" panose="02040503050406030204" pitchFamily="18" charset="0"/>
                        </a:rPr>
                        <m:t> −</m:t>
                      </m:r>
                      <m:sSub>
                        <m:sSubPr>
                          <m:ctrlPr>
                            <a:rPr lang="de-DE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𝑜𝑢𝑡𝑝𝑢𝑡</m:t>
                          </m:r>
                        </m:sub>
                      </m:sSub>
                    </m:oMath>
                  </m:oMathPara>
                </a14:m>
                <a:endParaRPr lang="de-DE" sz="3200" b="0" dirty="0"/>
              </a:p>
            </p:txBody>
          </p:sp>
        </mc:Choice>
        <mc:Fallback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8EC0ACB1-8A53-B0FC-FA83-9E0972B717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4046103"/>
                <a:ext cx="3413760" cy="62273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17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Grafik 8" descr="Ein Bild, das Entwurf, Kunst enthält.&#10;&#10;Automatisch generierte Beschreibung">
            <a:extLst>
              <a:ext uri="{FF2B5EF4-FFF2-40B4-BE49-F238E27FC236}">
                <a16:creationId xmlns:a16="http://schemas.microsoft.com/office/drawing/2014/main" id="{F352EE04-FADD-AD3C-063C-14C442990C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6185" y="0"/>
            <a:ext cx="1715815" cy="1443736"/>
          </a:xfrm>
          <a:prstGeom prst="rect">
            <a:avLst/>
          </a:prstGeom>
        </p:spPr>
      </p:pic>
      <p:sp>
        <p:nvSpPr>
          <p:cNvPr id="12" name="Titel 1">
            <a:extLst>
              <a:ext uri="{FF2B5EF4-FFF2-40B4-BE49-F238E27FC236}">
                <a16:creationId xmlns:a16="http://schemas.microsoft.com/office/drawing/2014/main" id="{5E2DFC09-C3AD-1FFD-9BAE-56CD40363525}"/>
              </a:ext>
            </a:extLst>
          </p:cNvPr>
          <p:cNvSpPr txBox="1">
            <a:spLocks/>
          </p:cNvSpPr>
          <p:nvPr/>
        </p:nvSpPr>
        <p:spPr>
          <a:xfrm>
            <a:off x="630936" y="639520"/>
            <a:ext cx="5272154" cy="17190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800"/>
              <a:t>3.2. </a:t>
            </a:r>
            <a:br>
              <a:rPr lang="en-US" sz="3800"/>
            </a:br>
            <a:r>
              <a:rPr lang="en-US" sz="3800"/>
              <a:t>Optimierungsalgorithmus</a:t>
            </a:r>
            <a:endParaRPr lang="en-US" sz="3800" dirty="0"/>
          </a:p>
        </p:txBody>
      </p:sp>
      <p:pic>
        <p:nvPicPr>
          <p:cNvPr id="11" name="Grafik 10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2369BD78-276B-86A1-BD14-64D09BD4F9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8912" y="979546"/>
            <a:ext cx="4898571" cy="4898571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50F8EB9D-6B2B-FF88-F7CD-593CA8383A8B}"/>
              </a:ext>
            </a:extLst>
          </p:cNvPr>
          <p:cNvSpPr txBox="1"/>
          <p:nvPr/>
        </p:nvSpPr>
        <p:spPr>
          <a:xfrm>
            <a:off x="6288912" y="5825470"/>
            <a:ext cx="4961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chemeClr val="bg2">
                    <a:lumMod val="75000"/>
                  </a:schemeClr>
                </a:solidFill>
              </a:rPr>
              <a:t>https://thenounproject.com/icon/implicit-bias-2985140/</a:t>
            </a:r>
          </a:p>
        </p:txBody>
      </p:sp>
    </p:spTree>
    <p:extLst>
      <p:ext uri="{BB962C8B-B14F-4D97-AF65-F5344CB8AC3E}">
        <p14:creationId xmlns:p14="http://schemas.microsoft.com/office/powerpoint/2010/main" val="303500522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79ADEA-DFD1-7C84-BF0D-B5ED3E406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0" name="Rectangle 59">
            <a:extLst>
              <a:ext uri="{FF2B5EF4-FFF2-40B4-BE49-F238E27FC236}">
                <a16:creationId xmlns:a16="http://schemas.microsoft.com/office/drawing/2014/main" id="{FF4E7D75-B459-AD47-CB86-D8CFF226B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sketch line">
            <a:extLst>
              <a:ext uri="{FF2B5EF4-FFF2-40B4-BE49-F238E27FC236}">
                <a16:creationId xmlns:a16="http://schemas.microsoft.com/office/drawing/2014/main" id="{A5A5C66F-75F1-EFC7-9C4E-2101D21A9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C36A0F0-411A-F0F0-2B21-8AAFEE414D9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11.02.2024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E157AFA-C5D9-319E-C9D5-3942FAD2F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Neuronale Netze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C7ADBE7-297C-95D8-8958-22FD2E0DD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Mathis Grün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0FF2B285-65DD-9200-A7F3-9EE73D0A9717}"/>
                  </a:ext>
                </a:extLst>
              </p:cNvPr>
              <p:cNvSpPr txBox="1"/>
              <p:nvPr/>
            </p:nvSpPr>
            <p:spPr>
              <a:xfrm>
                <a:off x="838200" y="4528012"/>
                <a:ext cx="3413760" cy="622735"/>
              </a:xfrm>
              <a:prstGeom prst="rect">
                <a:avLst/>
              </a:prstGeom>
              <a:noFill/>
              <a:ln w="3175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2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de-DE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32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e-DE" sz="3200" b="0" i="1" smtClean="0">
                          <a:latin typeface="Cambria Math" panose="02040503050406030204" pitchFamily="18" charset="0"/>
                        </a:rPr>
                        <m:t> −</m:t>
                      </m:r>
                      <m:sSub>
                        <m:sSubPr>
                          <m:ctrlPr>
                            <a:rPr lang="de-DE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𝑜𝑢𝑡𝑝𝑢𝑡</m:t>
                          </m:r>
                        </m:sub>
                      </m:sSub>
                    </m:oMath>
                  </m:oMathPara>
                </a14:m>
                <a:endParaRPr lang="de-DE" sz="3200" b="0" dirty="0"/>
              </a:p>
            </p:txBody>
          </p:sp>
        </mc:Choice>
        <mc:Fallback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0FF2B285-65DD-9200-A7F3-9EE73D0A97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528012"/>
                <a:ext cx="3413760" cy="62273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17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Grafik 8" descr="Ein Bild, das Entwurf, Kunst enthält.&#10;&#10;Automatisch generierte Beschreibung">
            <a:extLst>
              <a:ext uri="{FF2B5EF4-FFF2-40B4-BE49-F238E27FC236}">
                <a16:creationId xmlns:a16="http://schemas.microsoft.com/office/drawing/2014/main" id="{2B069A20-1681-0B8E-3D6F-DCA0758179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6185" y="0"/>
            <a:ext cx="1715815" cy="1443736"/>
          </a:xfrm>
          <a:prstGeom prst="rect">
            <a:avLst/>
          </a:prstGeom>
        </p:spPr>
      </p:pic>
      <p:sp>
        <p:nvSpPr>
          <p:cNvPr id="12" name="Titel 1">
            <a:extLst>
              <a:ext uri="{FF2B5EF4-FFF2-40B4-BE49-F238E27FC236}">
                <a16:creationId xmlns:a16="http://schemas.microsoft.com/office/drawing/2014/main" id="{A0C1DAFA-5D24-C178-6ABB-85669072390D}"/>
              </a:ext>
            </a:extLst>
          </p:cNvPr>
          <p:cNvSpPr txBox="1">
            <a:spLocks/>
          </p:cNvSpPr>
          <p:nvPr/>
        </p:nvSpPr>
        <p:spPr>
          <a:xfrm>
            <a:off x="630936" y="639520"/>
            <a:ext cx="5272154" cy="17190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800"/>
              <a:t>3.2. </a:t>
            </a:r>
            <a:br>
              <a:rPr lang="en-US" sz="3800"/>
            </a:br>
            <a:r>
              <a:rPr lang="en-US" sz="3800"/>
              <a:t>Optimierungsalgorithmus</a:t>
            </a:r>
            <a:endParaRPr lang="en-US" sz="3800" dirty="0"/>
          </a:p>
        </p:txBody>
      </p:sp>
      <p:pic>
        <p:nvPicPr>
          <p:cNvPr id="2" name="Grafik 1" descr="Ein Bild, das Diagramm, Text, Reihe, Kreis enthält.&#10;&#10;Automatisch generierte Beschreibung">
            <a:extLst>
              <a:ext uri="{FF2B5EF4-FFF2-40B4-BE49-F238E27FC236}">
                <a16:creationId xmlns:a16="http://schemas.microsoft.com/office/drawing/2014/main" id="{759EC910-ED90-B747-BF7F-1F3A34AED0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3090" y="1815824"/>
            <a:ext cx="5842399" cy="3651499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F9523AB0-1681-5995-F792-09B1BA117D27}"/>
              </a:ext>
            </a:extLst>
          </p:cNvPr>
          <p:cNvSpPr txBox="1"/>
          <p:nvPr/>
        </p:nvSpPr>
        <p:spPr>
          <a:xfrm>
            <a:off x="6096000" y="5579874"/>
            <a:ext cx="4961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chemeClr val="bg2">
                    <a:lumMod val="75000"/>
                  </a:schemeClr>
                </a:solidFill>
              </a:rPr>
              <a:t>Thesenpapier Abbildung 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B4694925-79AF-3DC3-EB5F-E09C2C9BE629}"/>
                  </a:ext>
                </a:extLst>
              </p:cNvPr>
              <p:cNvSpPr txBox="1"/>
              <p:nvPr/>
            </p:nvSpPr>
            <p:spPr>
              <a:xfrm>
                <a:off x="838200" y="3267640"/>
                <a:ext cx="3413760" cy="584775"/>
              </a:xfrm>
              <a:prstGeom prst="rect">
                <a:avLst/>
              </a:prstGeom>
              <a:noFill/>
              <a:ln w="3175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200" b="0" i="1" smtClean="0"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lang="de-DE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3200" b="0" i="1" smtClean="0">
                          <a:latin typeface="Cambria Math" panose="02040503050406030204" pitchFamily="18" charset="0"/>
                        </a:rPr>
                        <m:t>𝑠𝑖𝑔𝑚𝑜𝑖𝑑</m:t>
                      </m:r>
                      <m:d>
                        <m:dPr>
                          <m:ctrlPr>
                            <a:rPr lang="de-DE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de-DE" sz="3200" b="0" dirty="0"/>
              </a:p>
            </p:txBody>
          </p:sp>
        </mc:Choice>
        <mc:Fallback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B4694925-79AF-3DC3-EB5F-E09C2C9BE6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267640"/>
                <a:ext cx="3413760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17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704170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110D8-7C09-7161-5B46-1434A453C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0" name="Rectangle 59">
            <a:extLst>
              <a:ext uri="{FF2B5EF4-FFF2-40B4-BE49-F238E27FC236}">
                <a16:creationId xmlns:a16="http://schemas.microsoft.com/office/drawing/2014/main" id="{0B83B2CD-60E8-8553-E2FD-78689667D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sketch line">
            <a:extLst>
              <a:ext uri="{FF2B5EF4-FFF2-40B4-BE49-F238E27FC236}">
                <a16:creationId xmlns:a16="http://schemas.microsoft.com/office/drawing/2014/main" id="{46DE2DB7-FAE7-7723-348C-4ADA1ACB9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9165888-D36D-9A57-9242-7BF7412298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936" y="2807208"/>
            <a:ext cx="4621288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71500" indent="-342900" algn="l">
              <a:buFont typeface="Arial" panose="020B0604020202020204" pitchFamily="34" charset="0"/>
              <a:buChar char="•"/>
            </a:pPr>
            <a:r>
              <a:rPr lang="en-US" sz="2200" dirty="0"/>
              <a:t>Wie </a:t>
            </a:r>
            <a:r>
              <a:rPr lang="en-US" sz="2200" dirty="0" err="1"/>
              <a:t>passt</a:t>
            </a:r>
            <a:r>
              <a:rPr lang="en-US" sz="2200" dirty="0"/>
              <a:t> man die </a:t>
            </a:r>
            <a:r>
              <a:rPr lang="en-US" sz="2200" dirty="0" err="1"/>
              <a:t>Gewichte</a:t>
            </a:r>
            <a:r>
              <a:rPr lang="en-US" sz="2200" dirty="0"/>
              <a:t> an?</a:t>
            </a:r>
          </a:p>
          <a:p>
            <a:pPr marL="571500" indent="-342900" algn="l"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316F04-7F25-7FD8-8E5C-C40835E9F4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11.02.2024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E00ED0A-54BC-070B-51E4-82CF7939E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Neuronale Netze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B7F4553-5987-3ABF-F48F-17372CB61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Mathis Grün</a:t>
            </a:r>
          </a:p>
        </p:txBody>
      </p:sp>
      <p:pic>
        <p:nvPicPr>
          <p:cNvPr id="9" name="Grafik 8" descr="Ein Bild, das Diagramm, Text, Reihe, Kreis enthält.&#10;&#10;Automatisch generierte Beschreibung">
            <a:extLst>
              <a:ext uri="{FF2B5EF4-FFF2-40B4-BE49-F238E27FC236}">
                <a16:creationId xmlns:a16="http://schemas.microsoft.com/office/drawing/2014/main" id="{EEACC2BD-09D3-9E41-6D9A-6E0A55A8B3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5637" y="2476999"/>
            <a:ext cx="6846363" cy="323490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92F61A28-97F2-643A-F423-9BBAE925437C}"/>
                  </a:ext>
                </a:extLst>
              </p:cNvPr>
              <p:cNvSpPr txBox="1"/>
              <p:nvPr/>
            </p:nvSpPr>
            <p:spPr>
              <a:xfrm>
                <a:off x="6096000" y="406447"/>
                <a:ext cx="3413760" cy="584775"/>
              </a:xfrm>
              <a:prstGeom prst="rect">
                <a:avLst/>
              </a:prstGeom>
              <a:noFill/>
              <a:ln w="3175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200" b="0" i="1" smtClean="0"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lang="de-DE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3200" b="0" i="1" smtClean="0">
                          <a:latin typeface="Cambria Math" panose="02040503050406030204" pitchFamily="18" charset="0"/>
                        </a:rPr>
                        <m:t>𝑠𝑖𝑔𝑚𝑜𝑖𝑑</m:t>
                      </m:r>
                      <m:d>
                        <m:dPr>
                          <m:ctrlPr>
                            <a:rPr lang="de-DE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de-DE" sz="3200" b="0" dirty="0"/>
              </a:p>
            </p:txBody>
          </p:sp>
        </mc:Choice>
        <mc:Fallback xmlns="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92F61A28-97F2-643A-F423-9BBAE92543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06447"/>
                <a:ext cx="3413760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17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4ADF78A2-9E27-FE2D-E225-F8CBA5506A78}"/>
                  </a:ext>
                </a:extLst>
              </p:cNvPr>
              <p:cNvSpPr txBox="1"/>
              <p:nvPr/>
            </p:nvSpPr>
            <p:spPr>
              <a:xfrm>
                <a:off x="6096000" y="1258711"/>
                <a:ext cx="3413760" cy="622735"/>
              </a:xfrm>
              <a:prstGeom prst="rect">
                <a:avLst/>
              </a:prstGeom>
              <a:noFill/>
              <a:ln w="3175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2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de-DE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32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e-DE" sz="3200" b="0" i="1" smtClean="0">
                          <a:latin typeface="Cambria Math" panose="02040503050406030204" pitchFamily="18" charset="0"/>
                        </a:rPr>
                        <m:t> −</m:t>
                      </m:r>
                      <m:sSub>
                        <m:sSubPr>
                          <m:ctrlPr>
                            <a:rPr lang="de-DE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𝑜𝑢𝑡𝑝𝑢𝑡</m:t>
                          </m:r>
                        </m:sub>
                      </m:sSub>
                    </m:oMath>
                  </m:oMathPara>
                </a14:m>
                <a:endParaRPr lang="de-DE" sz="3200" b="0" dirty="0"/>
              </a:p>
            </p:txBody>
          </p:sp>
        </mc:Choice>
        <mc:Fallback xmlns="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4ADF78A2-9E27-FE2D-E225-F8CBA5506A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258711"/>
                <a:ext cx="3413760" cy="62273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17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Grafik 6" descr="Ein Bild, das Entwurf, Kunst enthält.&#10;&#10;Automatisch generierte Beschreibung">
            <a:extLst>
              <a:ext uri="{FF2B5EF4-FFF2-40B4-BE49-F238E27FC236}">
                <a16:creationId xmlns:a16="http://schemas.microsoft.com/office/drawing/2014/main" id="{04EBD808-A5CC-6A99-1739-5E86B5A6DFF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6185" y="0"/>
            <a:ext cx="1715815" cy="1443736"/>
          </a:xfrm>
          <a:prstGeom prst="rect">
            <a:avLst/>
          </a:prstGeom>
        </p:spPr>
      </p:pic>
      <p:sp>
        <p:nvSpPr>
          <p:cNvPr id="13" name="Titel 1">
            <a:extLst>
              <a:ext uri="{FF2B5EF4-FFF2-40B4-BE49-F238E27FC236}">
                <a16:creationId xmlns:a16="http://schemas.microsoft.com/office/drawing/2014/main" id="{044EE465-E705-42C3-E91D-E995312133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36" y="639520"/>
            <a:ext cx="5272154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3.2. </a:t>
            </a:r>
            <a:b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3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Optimierungsalgorithmus</a:t>
            </a:r>
            <a:endParaRPr lang="en-US" sz="38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66EBE5A3-291E-0E44-B970-6122C1F2DF13}"/>
              </a:ext>
            </a:extLst>
          </p:cNvPr>
          <p:cNvSpPr txBox="1"/>
          <p:nvPr/>
        </p:nvSpPr>
        <p:spPr>
          <a:xfrm>
            <a:off x="5515124" y="5879204"/>
            <a:ext cx="4961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chemeClr val="bg2">
                    <a:lumMod val="75000"/>
                  </a:schemeClr>
                </a:solidFill>
              </a:rPr>
              <a:t>Thesenpapier Abbildung 9</a:t>
            </a:r>
          </a:p>
        </p:txBody>
      </p:sp>
    </p:spTree>
    <p:extLst>
      <p:ext uri="{BB962C8B-B14F-4D97-AF65-F5344CB8AC3E}">
        <p14:creationId xmlns:p14="http://schemas.microsoft.com/office/powerpoint/2010/main" val="10437188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AFEA9C-73D7-6E71-61BB-5AF050F5A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" name="Rectangle 8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7E08CB6-5ECB-D5EF-9E61-0E508F052C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36" y="639520"/>
            <a:ext cx="4226072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3.3.</a:t>
            </a:r>
            <a:b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3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Gradientenverfahren</a:t>
            </a:r>
            <a:endParaRPr lang="en-US" sz="38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3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EC7A6D5-E7BC-348E-5B87-BC3944AE63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11.02.2024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990BE87-F837-B519-542A-D6A2527E6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Neuronale Netze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DA6BDD3-A518-1F41-D620-680C62008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Mathis Grün</a:t>
            </a:r>
          </a:p>
        </p:txBody>
      </p:sp>
      <p:pic>
        <p:nvPicPr>
          <p:cNvPr id="9" name="Grafik 8" descr="Ein Bild, das Entwurf, Kunst enthält.&#10;&#10;Automatisch generierte Beschreibung">
            <a:extLst>
              <a:ext uri="{FF2B5EF4-FFF2-40B4-BE49-F238E27FC236}">
                <a16:creationId xmlns:a16="http://schemas.microsoft.com/office/drawing/2014/main" id="{58939DD3-9239-61BE-EA3F-C51884822A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6185" y="0"/>
            <a:ext cx="1715815" cy="1443736"/>
          </a:xfrm>
          <a:prstGeom prst="rect">
            <a:avLst/>
          </a:prstGeom>
        </p:spPr>
      </p:pic>
      <p:pic>
        <p:nvPicPr>
          <p:cNvPr id="14" name="Grafik 13" descr="Ein Bild, das Text, Screenshot, Reihe, Schrift enthält.&#10;&#10;Automatisch generierte Beschreibung">
            <a:extLst>
              <a:ext uri="{FF2B5EF4-FFF2-40B4-BE49-F238E27FC236}">
                <a16:creationId xmlns:a16="http://schemas.microsoft.com/office/drawing/2014/main" id="{8DF024B1-BADA-F472-8561-89B96153B4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1071" y="2542097"/>
            <a:ext cx="8109857" cy="3621944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9DC5BF9D-D667-1673-7348-2F08BF68640B}"/>
              </a:ext>
            </a:extLst>
          </p:cNvPr>
          <p:cNvSpPr txBox="1"/>
          <p:nvPr/>
        </p:nvSpPr>
        <p:spPr>
          <a:xfrm>
            <a:off x="2041071" y="6055022"/>
            <a:ext cx="4961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chemeClr val="bg2">
                    <a:lumMod val="75000"/>
                  </a:schemeClr>
                </a:solidFill>
              </a:rPr>
              <a:t>Thesenpapier Abbildung 10</a:t>
            </a:r>
          </a:p>
        </p:txBody>
      </p:sp>
    </p:spTree>
    <p:extLst>
      <p:ext uri="{BB962C8B-B14F-4D97-AF65-F5344CB8AC3E}">
        <p14:creationId xmlns:p14="http://schemas.microsoft.com/office/powerpoint/2010/main" val="3530924606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C1C58A-D280-B2A2-E5C5-E49323D8A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4" name="Rectangle 73">
            <a:extLst>
              <a:ext uri="{FF2B5EF4-FFF2-40B4-BE49-F238E27FC236}">
                <a16:creationId xmlns:a16="http://schemas.microsoft.com/office/drawing/2014/main" id="{8B6B9BAE-15E4-E6A6-621B-DA8D1B5390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C021006-5EDB-A80C-4E6C-EF31C99D5B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36" y="639520"/>
            <a:ext cx="427673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3.3.</a:t>
            </a:r>
            <a:b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3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Gradientenverfahren</a:t>
            </a:r>
            <a:endParaRPr lang="en-US" sz="38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6" name="sketch line">
            <a:extLst>
              <a:ext uri="{FF2B5EF4-FFF2-40B4-BE49-F238E27FC236}">
                <a16:creationId xmlns:a16="http://schemas.microsoft.com/office/drawing/2014/main" id="{80ED7C57-14F9-F1BA-3286-86F705D6A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Grafik 11" descr="Ein Bild, das Text, Diagramm, Reihe enthält.&#10;&#10;Automatisch generierte Beschreibung">
            <a:extLst>
              <a:ext uri="{FF2B5EF4-FFF2-40B4-BE49-F238E27FC236}">
                <a16:creationId xmlns:a16="http://schemas.microsoft.com/office/drawing/2014/main" id="{D168AE6B-2837-D335-0441-5A18F8FA14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4889" y="943661"/>
            <a:ext cx="6903720" cy="4970678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B68323A-C798-B243-576A-684B319F30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11.02.2024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6258A67-4B8A-1A6F-4D2F-F1AA9171C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Neuronale Netze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8E4E069-25A0-2FF5-E624-20447ABCC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Mathis Grün</a:t>
            </a:r>
          </a:p>
        </p:txBody>
      </p:sp>
      <p:pic>
        <p:nvPicPr>
          <p:cNvPr id="7" name="Grafik 6" descr="Ein Bild, das Diagramm, Design enthält.&#10;&#10;Automatisch generierte Beschreibung">
            <a:extLst>
              <a:ext uri="{FF2B5EF4-FFF2-40B4-BE49-F238E27FC236}">
                <a16:creationId xmlns:a16="http://schemas.microsoft.com/office/drawing/2014/main" id="{A72B1B74-449C-89AE-5000-1ECEE3549B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7666" y="1499056"/>
            <a:ext cx="7271426" cy="4151099"/>
          </a:xfrm>
          <a:prstGeom prst="rect">
            <a:avLst/>
          </a:prstGeom>
        </p:spPr>
      </p:pic>
      <p:sp>
        <p:nvSpPr>
          <p:cNvPr id="10" name="Untertitel 2">
            <a:extLst>
              <a:ext uri="{FF2B5EF4-FFF2-40B4-BE49-F238E27FC236}">
                <a16:creationId xmlns:a16="http://schemas.microsoft.com/office/drawing/2014/main" id="{18B6EB75-5276-B354-0E7E-0791EE8F3287}"/>
              </a:ext>
            </a:extLst>
          </p:cNvPr>
          <p:cNvSpPr txBox="1">
            <a:spLocks/>
          </p:cNvSpPr>
          <p:nvPr/>
        </p:nvSpPr>
        <p:spPr>
          <a:xfrm>
            <a:off x="630935" y="2807208"/>
            <a:ext cx="4276729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200" dirty="0" err="1"/>
              <a:t>Gradientenbestimmung</a:t>
            </a:r>
            <a:endParaRPr lang="en-US" sz="2200" dirty="0"/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200" dirty="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200" dirty="0"/>
              <a:t>Für was </a:t>
            </a:r>
            <a:r>
              <a:rPr lang="en-US" sz="2200" dirty="0" err="1"/>
              <a:t>stehen</a:t>
            </a:r>
            <a:r>
              <a:rPr lang="en-US" sz="2200" dirty="0"/>
              <a:t> die </a:t>
            </a:r>
            <a:r>
              <a:rPr lang="en-US" sz="2200" dirty="0" err="1"/>
              <a:t>Gradienten</a:t>
            </a:r>
            <a:endParaRPr lang="en-US" sz="2200" dirty="0"/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200" dirty="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200" dirty="0" err="1"/>
              <a:t>Gültig</a:t>
            </a:r>
            <a:r>
              <a:rPr lang="en-US" sz="2200" dirty="0"/>
              <a:t> für n-</a:t>
            </a:r>
            <a:r>
              <a:rPr lang="en-US" sz="2200" dirty="0" err="1"/>
              <a:t>Dimensionen</a:t>
            </a:r>
            <a:endParaRPr lang="en-US" sz="2200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E6864E8A-AB9A-C153-2297-0520AD40DC05}"/>
              </a:ext>
            </a:extLst>
          </p:cNvPr>
          <p:cNvSpPr txBox="1"/>
          <p:nvPr/>
        </p:nvSpPr>
        <p:spPr>
          <a:xfrm>
            <a:off x="5456154" y="5979358"/>
            <a:ext cx="4961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chemeClr val="bg2">
                    <a:lumMod val="75000"/>
                  </a:schemeClr>
                </a:solidFill>
              </a:rPr>
              <a:t>Thesenpapier Abbildung 11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33563DCC-C3A2-A158-78B6-BC672D04671F}"/>
              </a:ext>
            </a:extLst>
          </p:cNvPr>
          <p:cNvSpPr txBox="1"/>
          <p:nvPr/>
        </p:nvSpPr>
        <p:spPr>
          <a:xfrm>
            <a:off x="5456153" y="5979358"/>
            <a:ext cx="4961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chemeClr val="bg2">
                    <a:lumMod val="75000"/>
                  </a:schemeClr>
                </a:solidFill>
              </a:rPr>
              <a:t>Thesenpapier Abbildung 12</a:t>
            </a:r>
          </a:p>
        </p:txBody>
      </p:sp>
      <p:pic>
        <p:nvPicPr>
          <p:cNvPr id="9" name="Grafik 8" descr="Ein Bild, das Entwurf, Kunst enthält.&#10;&#10;Automatisch generierte Beschreibung">
            <a:extLst>
              <a:ext uri="{FF2B5EF4-FFF2-40B4-BE49-F238E27FC236}">
                <a16:creationId xmlns:a16="http://schemas.microsoft.com/office/drawing/2014/main" id="{AA31D315-B50E-A73A-7E58-3EA5EC5D7E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6185" y="0"/>
            <a:ext cx="1715815" cy="144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0410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113035-F193-70F0-69D4-F57B49AFA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" name="Rectangle 80">
            <a:extLst>
              <a:ext uri="{FF2B5EF4-FFF2-40B4-BE49-F238E27FC236}">
                <a16:creationId xmlns:a16="http://schemas.microsoft.com/office/drawing/2014/main" id="{1C378F73-75E0-5F79-0C1A-551EB6FE52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D01D693-67D3-22BF-C6D9-5E96CC998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35" y="639520"/>
            <a:ext cx="4265155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3.3.</a:t>
            </a:r>
            <a:b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3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Gradientenverfahren</a:t>
            </a:r>
            <a:endParaRPr lang="en-US" sz="38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3" name="sketch line">
            <a:extLst>
              <a:ext uri="{FF2B5EF4-FFF2-40B4-BE49-F238E27FC236}">
                <a16:creationId xmlns:a16="http://schemas.microsoft.com/office/drawing/2014/main" id="{6C181347-8860-9B2D-1D37-C8422EFA27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27F9466-1694-BD5A-E112-03FF1472B8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11.02.2024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ACF0513-5A4F-A19E-634F-F97F4DF83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Neuronale Netze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BEC2536-C1E5-0AFD-3D91-04567B3CB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Mathis Grün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CBA6D394-31CC-361D-6874-CC2743491B13}"/>
                  </a:ext>
                </a:extLst>
              </p:cNvPr>
              <p:cNvSpPr txBox="1"/>
              <p:nvPr/>
            </p:nvSpPr>
            <p:spPr>
              <a:xfrm>
                <a:off x="0" y="3429564"/>
                <a:ext cx="12192000" cy="10698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DE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de-DE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de-DE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de-DE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de-DE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𝑗𝑘</m:t>
                              </m:r>
                            </m:sub>
                          </m:sSub>
                        </m:den>
                      </m:f>
                      <m:r>
                        <a:rPr lang="de-DE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8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de-DE" sz="28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8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de-DE" sz="28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de-DE" sz="2800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800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de-DE" sz="2800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de-DE" sz="28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de-DE" sz="2800" b="0" i="1" smtClean="0">
                          <a:latin typeface="Cambria Math" panose="02040503050406030204" pitchFamily="18" charset="0"/>
                        </a:rPr>
                        <m:t>𝑠𝑖𝑔𝑚𝑜𝑖𝑑</m:t>
                      </m:r>
                      <m:d>
                        <m:dPr>
                          <m:ctrlPr>
                            <a:rPr lang="de-DE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de-DE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de-DE" sz="28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de-DE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8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de-DE" sz="2800" b="0" i="1" smtClean="0">
                                      <a:latin typeface="Cambria Math" panose="02040503050406030204" pitchFamily="18" charset="0"/>
                                    </a:rPr>
                                    <m:t>𝑗𝑘</m:t>
                                  </m:r>
                                </m:sub>
                              </m:sSub>
                              <m:r>
                                <a:rPr lang="de-DE" sz="28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sSub>
                                <m:sSubPr>
                                  <m:ctrlPr>
                                    <a:rPr lang="de-DE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800" b="0" i="1" smtClean="0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e>
                                <m:sub>
                                  <m:r>
                                    <a:rPr lang="de-DE" sz="28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de-DE" sz="2800" b="0" i="1" smtClean="0">
                          <a:latin typeface="Cambria Math" panose="02040503050406030204" pitchFamily="18" charset="0"/>
                        </a:rPr>
                        <m:t>(1−</m:t>
                      </m:r>
                      <m:r>
                        <a:rPr lang="de-DE" sz="2800" b="0" i="1" smtClean="0">
                          <a:latin typeface="Cambria Math" panose="02040503050406030204" pitchFamily="18" charset="0"/>
                        </a:rPr>
                        <m:t>𝑠𝑖𝑔𝑚𝑜𝑖𝑑</m:t>
                      </m:r>
                      <m:d>
                        <m:dPr>
                          <m:ctrlPr>
                            <a:rPr lang="de-DE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de-DE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de-DE" sz="28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de-DE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8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de-DE" sz="2800" b="0" i="1" smtClean="0">
                                      <a:latin typeface="Cambria Math" panose="02040503050406030204" pitchFamily="18" charset="0"/>
                                    </a:rPr>
                                    <m:t>𝑗𝑘</m:t>
                                  </m:r>
                                </m:sub>
                              </m:sSub>
                              <m:r>
                                <a:rPr lang="de-DE" sz="28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sSub>
                                <m:sSubPr>
                                  <m:ctrlPr>
                                    <a:rPr lang="de-DE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800" b="0" i="1" smtClean="0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e>
                                <m:sub>
                                  <m:r>
                                    <a:rPr lang="de-DE" sz="28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de-DE" sz="2800" b="0" i="1" smtClean="0">
                          <a:latin typeface="Cambria Math" panose="02040503050406030204" pitchFamily="18" charset="0"/>
                        </a:rPr>
                        <m:t>)∗</m:t>
                      </m:r>
                      <m:sSub>
                        <m:sSubPr>
                          <m:ctrlPr>
                            <a:rPr lang="de-DE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de-DE" sz="2800" b="0" dirty="0"/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CBA6D394-31CC-361D-6874-CC2743491B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429564"/>
                <a:ext cx="12192000" cy="106984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Grafik 2" descr="Ein Bild, das Entwurf, Kunst enthält.&#10;&#10;Automatisch generierte Beschreibung">
            <a:extLst>
              <a:ext uri="{FF2B5EF4-FFF2-40B4-BE49-F238E27FC236}">
                <a16:creationId xmlns:a16="http://schemas.microsoft.com/office/drawing/2014/main" id="{29C0DE84-5D79-ED87-2835-BE0E6927E7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6185" y="0"/>
            <a:ext cx="1715815" cy="144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683780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9BCE12-14E2-6532-CAC5-CF3DDFCC9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" name="Rectangle 80">
            <a:extLst>
              <a:ext uri="{FF2B5EF4-FFF2-40B4-BE49-F238E27FC236}">
                <a16:creationId xmlns:a16="http://schemas.microsoft.com/office/drawing/2014/main" id="{39AE0DCE-FE96-CDF6-9C14-3BC141AE8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34B2689-366D-B653-20A2-73A11E5BF4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35" y="639520"/>
            <a:ext cx="4265155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3.3.</a:t>
            </a:r>
            <a:b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3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Gradientenverfahren</a:t>
            </a:r>
            <a:endParaRPr lang="en-US" sz="38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3" name="sketch line">
            <a:extLst>
              <a:ext uri="{FF2B5EF4-FFF2-40B4-BE49-F238E27FC236}">
                <a16:creationId xmlns:a16="http://schemas.microsoft.com/office/drawing/2014/main" id="{BAF10148-3F2C-10E7-FF7B-02C6CA455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Untertitel 2">
                <a:extLst>
                  <a:ext uri="{FF2B5EF4-FFF2-40B4-BE49-F238E27FC236}">
                    <a16:creationId xmlns:a16="http://schemas.microsoft.com/office/drawing/2014/main" id="{5DD3B68D-E255-5E1E-7060-B92946A95FBD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630936" y="2807208"/>
                <a:ext cx="3429000" cy="3410712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pPr indent="-228600" algn="l">
                  <a:buFont typeface="Arial" panose="020B0604020202020204" pitchFamily="34" charset="0"/>
                  <a:buChar char="•"/>
                </a:pPr>
                <a:r>
                  <a:rPr lang="en-US" sz="2200" dirty="0" err="1"/>
                  <a:t>Zusammenfassen</a:t>
                </a:r>
                <a:endParaRPr lang="en-US" sz="2200" dirty="0"/>
              </a:p>
              <a:p>
                <a:pPr algn="l"/>
                <a:endParaRPr lang="en-US" sz="2200" dirty="0"/>
              </a:p>
              <a:p>
                <a:pPr indent="-228600" algn="l">
                  <a:buFont typeface="Arial" panose="020B0604020202020204" pitchFamily="34" charset="0"/>
                  <a:buChar char="•"/>
                </a:pPr>
                <a:r>
                  <a:rPr lang="en-US" sz="2200" dirty="0" err="1"/>
                  <a:t>Lernrate</a:t>
                </a:r>
                <a:r>
                  <a:rPr lang="en-US" sz="2200" dirty="0"/>
                  <a:t>: </a:t>
                </a:r>
                <a14:m>
                  <m:oMath xmlns:m="http://schemas.openxmlformats.org/officeDocument/2006/math">
                    <m:r>
                      <a:rPr lang="en-US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</m:oMath>
                </a14:m>
                <a:endParaRPr lang="en-US" sz="2200" dirty="0"/>
              </a:p>
            </p:txBody>
          </p:sp>
        </mc:Choice>
        <mc:Fallback xmlns="">
          <p:sp>
            <p:nvSpPr>
              <p:cNvPr id="3" name="Untertitel 2">
                <a:extLst>
                  <a:ext uri="{FF2B5EF4-FFF2-40B4-BE49-F238E27FC236}">
                    <a16:creationId xmlns:a16="http://schemas.microsoft.com/office/drawing/2014/main" id="{5DD3B68D-E255-5E1E-7060-B92946A95F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630936" y="2807208"/>
                <a:ext cx="3429000" cy="3410712"/>
              </a:xfrm>
              <a:blipFill>
                <a:blip r:embed="rId2"/>
                <a:stretch>
                  <a:fillRect l="-2135" t="-214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EF32FA4-4C24-80C6-8CB7-C7A79E3CF7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11.02.2024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BFD8134-6551-2EDF-17ED-424E5D7EE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Neuronale Netze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0D53D29-AD12-9092-627D-BAA7BF333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Mathis Grün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6E261A83-1026-3C33-F43A-8139E867325F}"/>
                  </a:ext>
                </a:extLst>
              </p:cNvPr>
              <p:cNvSpPr txBox="1"/>
              <p:nvPr/>
            </p:nvSpPr>
            <p:spPr>
              <a:xfrm>
                <a:off x="5551559" y="3891236"/>
                <a:ext cx="5782533" cy="1167627"/>
              </a:xfrm>
              <a:prstGeom prst="rect">
                <a:avLst/>
              </a:prstGeom>
              <a:noFill/>
              <a:ln w="3175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2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𝑛𝑒𝑤</m:t>
                      </m:r>
                      <m:r>
                        <a:rPr lang="de-DE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de-DE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𝑗𝑘</m:t>
                          </m:r>
                        </m:sub>
                      </m:sSub>
                      <m:r>
                        <a:rPr lang="de-DE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3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𝑜𝑙𝑑</m:t>
                      </m:r>
                      <m:r>
                        <a:rPr lang="de-DE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de-DE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𝑗𝑘</m:t>
                          </m:r>
                        </m:sub>
                      </m:sSub>
                      <m:r>
                        <a:rPr lang="de-DE" sz="3200" b="0" i="1" smtClean="0"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de-DE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r>
                        <a:rPr lang="de-DE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 </m:t>
                      </m:r>
                      <m:f>
                        <m:fPr>
                          <m:ctrlPr>
                            <a:rPr lang="de-DE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de-DE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de-DE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de-DE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de-DE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𝑗𝑘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de-DE" sz="3200" dirty="0"/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6E261A83-1026-3C33-F43A-8139E86732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1559" y="3891236"/>
                <a:ext cx="5782533" cy="116762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17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D1246532-80CA-C161-B70E-265B26C43F82}"/>
                  </a:ext>
                </a:extLst>
              </p:cNvPr>
              <p:cNvSpPr txBox="1"/>
              <p:nvPr/>
            </p:nvSpPr>
            <p:spPr>
              <a:xfrm>
                <a:off x="5571267" y="2258202"/>
                <a:ext cx="5782533" cy="667683"/>
              </a:xfrm>
              <a:prstGeom prst="rect">
                <a:avLst/>
              </a:prstGeom>
              <a:noFill/>
              <a:ln w="3175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de-DE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de-DE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𝑗𝑘</m:t>
                          </m:r>
                        </m:sub>
                      </m:sSub>
                      <m:r>
                        <a:rPr lang="de-DE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∝∗</m:t>
                      </m:r>
                      <m:sSub>
                        <m:sSubPr>
                          <m:ctrlPr>
                            <a:rPr lang="de-DE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de-DE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de-DE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de-DE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de-DE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de-DE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de-DE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de-DE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de-DE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sSubSup>
                        <m:sSubSupPr>
                          <m:ctrlPr>
                            <a:rPr lang="de-DE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e-DE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de-DE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de-DE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</m:t>
                          </m:r>
                          <m:r>
                            <a:rPr lang="de-DE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de-DE" sz="3200" dirty="0"/>
              </a:p>
            </p:txBody>
          </p:sp>
        </mc:Choice>
        <mc:Fallback xmlns="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D1246532-80CA-C161-B70E-265B26C43F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1267" y="2258202"/>
                <a:ext cx="5782533" cy="6676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17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Grafik 6" descr="Ein Bild, das Entwurf, Kunst enthält.&#10;&#10;Automatisch generierte Beschreibung">
            <a:extLst>
              <a:ext uri="{FF2B5EF4-FFF2-40B4-BE49-F238E27FC236}">
                <a16:creationId xmlns:a16="http://schemas.microsoft.com/office/drawing/2014/main" id="{1752E90A-8702-D8D2-74BB-CC869B350B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6185" y="0"/>
            <a:ext cx="1715815" cy="144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56079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5B3F22-2D9C-2D92-2F19-7997EC936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017618E-786D-9B83-B009-764EE7138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4. </a:t>
            </a:r>
            <a:r>
              <a:rPr lang="en-US" sz="5400" dirty="0" err="1"/>
              <a:t>Handschrifterkennung</a:t>
            </a:r>
            <a:r>
              <a:rPr lang="en-US" sz="5400" dirty="0"/>
              <a:t>: </a:t>
            </a:r>
            <a:r>
              <a:rPr lang="en-US" sz="5400" dirty="0" err="1"/>
              <a:t>Ziffern</a:t>
            </a:r>
            <a:r>
              <a:rPr lang="en-US" sz="5400" dirty="0"/>
              <a:t> 0-9</a:t>
            </a:r>
          </a:p>
        </p:txBody>
      </p:sp>
      <p:sp>
        <p:nvSpPr>
          <p:cNvPr id="39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B2199A2-CC91-C084-6D29-0448DD0A34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2493" y="2071316"/>
            <a:ext cx="6713552" cy="411917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sz="2200" dirty="0" err="1"/>
              <a:t>Genutzte</a:t>
            </a:r>
            <a:r>
              <a:rPr lang="en-US" sz="2200" dirty="0"/>
              <a:t> Software und Hardware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sz="2200" dirty="0"/>
              <a:t>Wie </a:t>
            </a:r>
            <a:r>
              <a:rPr lang="en-US" sz="2200" dirty="0" err="1"/>
              <a:t>ist</a:t>
            </a:r>
            <a:r>
              <a:rPr lang="en-US" sz="2200" dirty="0"/>
              <a:t> der Aufbau</a:t>
            </a:r>
          </a:p>
          <a:p>
            <a:pPr marL="228600"/>
            <a:endParaRPr lang="en-US" sz="2200" dirty="0"/>
          </a:p>
        </p:txBody>
      </p:sp>
      <p:pic>
        <p:nvPicPr>
          <p:cNvPr id="8" name="Grafik 7" descr="Ein Bild, das Entwurf, Zeichnung, Schwarz, Grafiken enthält.&#10;&#10;Automatisch generierte Beschreibung">
            <a:extLst>
              <a:ext uri="{FF2B5EF4-FFF2-40B4-BE49-F238E27FC236}">
                <a16:creationId xmlns:a16="http://schemas.microsoft.com/office/drawing/2014/main" id="{F7D847FC-FCC9-1352-5A29-C965F4087A3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85"/>
          <a:stretch/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2CBE5E6-F8AE-E471-3F53-9A84FBA8B7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11.02.2024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E47B03B-A12F-0849-F2DC-26A6B8ADB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kern="120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t>Neuronale Netze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1E38A16-2B9F-2C1E-EBEC-156EFFD05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Mathis Grün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10BCE3E2-5D1F-199E-A94F-9472D04CFB9A}"/>
              </a:ext>
            </a:extLst>
          </p:cNvPr>
          <p:cNvSpPr txBox="1"/>
          <p:nvPr/>
        </p:nvSpPr>
        <p:spPr>
          <a:xfrm>
            <a:off x="7150428" y="6125142"/>
            <a:ext cx="48063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chemeClr val="bg2">
                    <a:lumMod val="75000"/>
                  </a:schemeClr>
                </a:solidFill>
              </a:rPr>
              <a:t>https://thenounproject.com/icon/handwriting-4145506/</a:t>
            </a:r>
          </a:p>
        </p:txBody>
      </p:sp>
      <p:pic>
        <p:nvPicPr>
          <p:cNvPr id="9" name="Grafik 8" descr="Ein Bild, das Entwurf, Kunst enthält.&#10;&#10;Automatisch generierte Beschreibung">
            <a:extLst>
              <a:ext uri="{FF2B5EF4-FFF2-40B4-BE49-F238E27FC236}">
                <a16:creationId xmlns:a16="http://schemas.microsoft.com/office/drawing/2014/main" id="{5906AFD4-4DA1-EFA8-3A61-3E641D7CC4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6185" y="0"/>
            <a:ext cx="1715815" cy="144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726571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0899ED-82DC-3EBD-D811-0F6CF2811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" name="Rectangle 80">
            <a:extLst>
              <a:ext uri="{FF2B5EF4-FFF2-40B4-BE49-F238E27FC236}">
                <a16:creationId xmlns:a16="http://schemas.microsoft.com/office/drawing/2014/main" id="{5BBEB2D9-591E-3389-42BC-6D3D9E567C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1530B7D-08D0-925D-6CBB-BF9D813B08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35" y="1105203"/>
            <a:ext cx="6850520" cy="1719072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l"/>
            <a:r>
              <a:rPr lang="en-US" sz="4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4.</a:t>
            </a:r>
            <a:r>
              <a:rPr lang="en-US" sz="4200" dirty="0"/>
              <a:t>1</a:t>
            </a:r>
            <a:br>
              <a:rPr lang="en-US" sz="4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4200" dirty="0" err="1"/>
              <a:t>Genutzte</a:t>
            </a:r>
            <a:r>
              <a:rPr lang="en-US" sz="4200" dirty="0"/>
              <a:t> Software und Hardware</a:t>
            </a:r>
            <a:br>
              <a:rPr lang="en-US" sz="4000" dirty="0"/>
            </a:br>
            <a:endParaRPr lang="en-US" sz="38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3" name="sketch line">
            <a:extLst>
              <a:ext uri="{FF2B5EF4-FFF2-40B4-BE49-F238E27FC236}">
                <a16:creationId xmlns:a16="http://schemas.microsoft.com/office/drawing/2014/main" id="{65955BBB-591F-B7D0-DE2B-F14E431E2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B674A4B-5BC3-04B0-EAE2-0CC55E27AE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935" y="2824275"/>
            <a:ext cx="691896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200" dirty="0"/>
              <a:t>Python (3.10)</a:t>
            </a:r>
          </a:p>
          <a:p>
            <a:pPr algn="l"/>
            <a:endParaRPr lang="en-US" sz="2200" dirty="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200" dirty="0" err="1"/>
              <a:t>Numpy</a:t>
            </a:r>
            <a:r>
              <a:rPr lang="en-US" sz="2200" dirty="0"/>
              <a:t>, </a:t>
            </a:r>
            <a:r>
              <a:rPr lang="en-US" sz="2200" dirty="0" err="1"/>
              <a:t>Scipy</a:t>
            </a:r>
            <a:r>
              <a:rPr lang="en-US" sz="2200" dirty="0"/>
              <a:t>, Matplotlib, </a:t>
            </a:r>
            <a:r>
              <a:rPr lang="en-US" sz="2200" dirty="0" err="1"/>
              <a:t>Tkinter</a:t>
            </a:r>
            <a:endParaRPr lang="en-US" sz="2200" dirty="0"/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200" dirty="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200" dirty="0" err="1"/>
              <a:t>Leistungsstarker</a:t>
            </a:r>
            <a:r>
              <a:rPr lang="en-US" sz="2200" dirty="0"/>
              <a:t> </a:t>
            </a:r>
            <a:r>
              <a:rPr lang="en-US" sz="2200" dirty="0" err="1"/>
              <a:t>Prozessor</a:t>
            </a:r>
            <a:r>
              <a:rPr lang="en-US" sz="2200" dirty="0"/>
              <a:t> 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221B11C-3B32-A2F4-9E34-CDEA57FF79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11.02.2024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018CCB8-FC4D-F6EB-42DF-2D9B78DB5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Neuronale Netze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A352701-C102-236E-CB07-1EFBF135A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Mathis Grün</a:t>
            </a:r>
          </a:p>
        </p:txBody>
      </p:sp>
      <p:pic>
        <p:nvPicPr>
          <p:cNvPr id="12" name="Grafik 11" descr="Ein Bild, das Screenshot, Design enthält.&#10;&#10;Automatisch generierte Beschreibung">
            <a:extLst>
              <a:ext uri="{FF2B5EF4-FFF2-40B4-BE49-F238E27FC236}">
                <a16:creationId xmlns:a16="http://schemas.microsoft.com/office/drawing/2014/main" id="{4DBF1EAB-068F-EAAB-A3B3-6DE8028BB3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790" y="1099662"/>
            <a:ext cx="3412819" cy="3429969"/>
          </a:xfrm>
          <a:prstGeom prst="rect">
            <a:avLst/>
          </a:prstGeom>
        </p:spPr>
      </p:pic>
      <p:pic>
        <p:nvPicPr>
          <p:cNvPr id="13" name="Grafik 12" descr="Ein Bild, das Screenshot, Schwarz, Design enthält.&#10;&#10;Automatisch generierte Beschreibung">
            <a:extLst>
              <a:ext uri="{FF2B5EF4-FFF2-40B4-BE49-F238E27FC236}">
                <a16:creationId xmlns:a16="http://schemas.microsoft.com/office/drawing/2014/main" id="{F5DA5488-5F70-1DBC-8784-7597AC7CC0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6076" y="3929478"/>
            <a:ext cx="2203819" cy="2176272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3412EC30-5AE0-EA06-C81B-EEEA9130942F}"/>
              </a:ext>
            </a:extLst>
          </p:cNvPr>
          <p:cNvSpPr txBox="1"/>
          <p:nvPr/>
        </p:nvSpPr>
        <p:spPr>
          <a:xfrm>
            <a:off x="4331309" y="6048067"/>
            <a:ext cx="4961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chemeClr val="bg2">
                    <a:lumMod val="75000"/>
                  </a:schemeClr>
                </a:solidFill>
              </a:rPr>
              <a:t>https://thenounproject.com/icon/hardware-5752575/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6CE9B25-BF69-1B0D-C58F-DE082A248B33}"/>
              </a:ext>
            </a:extLst>
          </p:cNvPr>
          <p:cNvSpPr txBox="1"/>
          <p:nvPr/>
        </p:nvSpPr>
        <p:spPr>
          <a:xfrm>
            <a:off x="7538032" y="4596885"/>
            <a:ext cx="44829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chemeClr val="bg2">
                    <a:lumMod val="75000"/>
                  </a:schemeClr>
                </a:solidFill>
              </a:rPr>
              <a:t>https://thenounproject.com/icon/software-3874633/</a:t>
            </a:r>
          </a:p>
        </p:txBody>
      </p:sp>
      <p:pic>
        <p:nvPicPr>
          <p:cNvPr id="9" name="Grafik 8" descr="Ein Bild, das Entwurf, Kunst enthält.&#10;&#10;Automatisch generierte Beschreibung">
            <a:extLst>
              <a:ext uri="{FF2B5EF4-FFF2-40B4-BE49-F238E27FC236}">
                <a16:creationId xmlns:a16="http://schemas.microsoft.com/office/drawing/2014/main" id="{EE37A56A-1265-389C-63B5-190DC573FA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6185" y="0"/>
            <a:ext cx="1715815" cy="144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84922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DFA1DF-BC35-F542-1E1F-9F5AFAA52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8" name="Rectangle 87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BD5A75E-EB6A-C3FB-AA2A-A7B86807F9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36" y="639520"/>
            <a:ext cx="402336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4.2</a:t>
            </a:r>
            <a:b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Was </a:t>
            </a:r>
            <a:r>
              <a:rPr lang="en-US" sz="3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ist</a:t>
            </a:r>
            <a: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der Aufbau</a:t>
            </a:r>
          </a:p>
        </p:txBody>
      </p:sp>
      <p:sp>
        <p:nvSpPr>
          <p:cNvPr id="90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7C0A608-3E9F-D976-5AAE-17A2D41275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936" y="2807208"/>
            <a:ext cx="402336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200" dirty="0"/>
              <a:t>Wie </a:t>
            </a:r>
            <a:r>
              <a:rPr lang="en-US" sz="2200" dirty="0" err="1"/>
              <a:t>sind</a:t>
            </a:r>
            <a:r>
              <a:rPr lang="en-US" sz="2200" dirty="0"/>
              <a:t> die </a:t>
            </a:r>
            <a:r>
              <a:rPr lang="en-US" sz="2200" dirty="0" err="1"/>
              <a:t>Daten</a:t>
            </a:r>
            <a:r>
              <a:rPr lang="en-US" sz="2200" dirty="0"/>
              <a:t> </a:t>
            </a:r>
            <a:r>
              <a:rPr lang="en-US" sz="2200" dirty="0" err="1"/>
              <a:t>angegeben</a:t>
            </a:r>
            <a:endParaRPr lang="en-US" sz="2200" dirty="0"/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200" dirty="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200" dirty="0"/>
              <a:t>Was </a:t>
            </a:r>
            <a:r>
              <a:rPr lang="en-US" sz="2200" dirty="0" err="1"/>
              <a:t>bedeuten</a:t>
            </a:r>
            <a:r>
              <a:rPr lang="en-US" sz="2200" dirty="0"/>
              <a:t> die </a:t>
            </a:r>
            <a:r>
              <a:rPr lang="en-US" sz="2200" dirty="0" err="1"/>
              <a:t>Zahlen</a:t>
            </a:r>
            <a:r>
              <a:rPr lang="en-US" sz="2200" dirty="0"/>
              <a:t> ?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18D02BA5-E06D-829E-D8E2-E13E10BA5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873978"/>
            <a:ext cx="6903720" cy="5110043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1568EEF-D90E-7ADF-0E8A-9E08077005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11.02.2024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F172F63-B95A-3CAE-7DD6-8C6E42726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Neuronale Netze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70E55E8-DCB1-CCCA-8A02-081EE3BB5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Mathis Grün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6B2A5E93-8D9F-CF29-AE6C-4B7FF80F6629}"/>
              </a:ext>
            </a:extLst>
          </p:cNvPr>
          <p:cNvSpPr txBox="1"/>
          <p:nvPr/>
        </p:nvSpPr>
        <p:spPr>
          <a:xfrm>
            <a:off x="4654296" y="6045296"/>
            <a:ext cx="4961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chemeClr val="bg2">
                    <a:lumMod val="75000"/>
                  </a:schemeClr>
                </a:solidFill>
              </a:rPr>
              <a:t>Thesenpapier Abbildung 13</a:t>
            </a:r>
          </a:p>
        </p:txBody>
      </p:sp>
      <p:pic>
        <p:nvPicPr>
          <p:cNvPr id="8" name="Grafik 7" descr="Ein Bild, das Entwurf, Kunst enthält.&#10;&#10;Automatisch generierte Beschreibung">
            <a:extLst>
              <a:ext uri="{FF2B5EF4-FFF2-40B4-BE49-F238E27FC236}">
                <a16:creationId xmlns:a16="http://schemas.microsoft.com/office/drawing/2014/main" id="{7207818A-A853-4D4E-F376-56F47DC16D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6185" y="0"/>
            <a:ext cx="1715815" cy="144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090785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8B90A7-43F8-FFA1-0D27-A3FADEF99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8" name="Rectangle 87">
            <a:extLst>
              <a:ext uri="{FF2B5EF4-FFF2-40B4-BE49-F238E27FC236}">
                <a16:creationId xmlns:a16="http://schemas.microsoft.com/office/drawing/2014/main" id="{E71D0852-6DAA-400E-58FD-6AD9CE017A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48D0561-01C5-55C5-1640-7B235D5F7E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36" y="639520"/>
            <a:ext cx="402336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4.2</a:t>
            </a:r>
            <a:b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Was </a:t>
            </a:r>
            <a:r>
              <a:rPr lang="en-US" sz="3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ist</a:t>
            </a:r>
            <a: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der Aufbau</a:t>
            </a:r>
          </a:p>
        </p:txBody>
      </p:sp>
      <p:sp>
        <p:nvSpPr>
          <p:cNvPr id="90" name="sketch line">
            <a:extLst>
              <a:ext uri="{FF2B5EF4-FFF2-40B4-BE49-F238E27FC236}">
                <a16:creationId xmlns:a16="http://schemas.microsoft.com/office/drawing/2014/main" id="{F972D8B8-4483-091F-6837-FE96EB48D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A535096-8045-A0FB-2852-B78D56AA7B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200" dirty="0"/>
              <a:t>Was </a:t>
            </a:r>
            <a:r>
              <a:rPr lang="en-US" sz="2200" dirty="0" err="1"/>
              <a:t>ist</a:t>
            </a:r>
            <a:r>
              <a:rPr lang="en-US" sz="2200" dirty="0"/>
              <a:t> das Label ?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200" dirty="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200" dirty="0" err="1"/>
              <a:t>Umformung</a:t>
            </a:r>
            <a:r>
              <a:rPr lang="en-US" sz="2200" dirty="0"/>
              <a:t> der </a:t>
            </a:r>
            <a:r>
              <a:rPr lang="en-US" sz="2200" dirty="0" err="1"/>
              <a:t>Daten</a:t>
            </a:r>
            <a:endParaRPr lang="en-US" sz="220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5F06D88-BFF9-EFA7-A11F-F07731CA7B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11.02.2024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F01D946-2131-9569-7CE2-C03BE19B2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Neuronale Netze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A6B70A7-ECE7-8256-E687-E05AA1FB3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Mathis Grün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AFCBB541-1C81-562D-56DF-A91BE974ABDD}"/>
              </a:ext>
            </a:extLst>
          </p:cNvPr>
          <p:cNvSpPr txBox="1"/>
          <p:nvPr/>
        </p:nvSpPr>
        <p:spPr>
          <a:xfrm>
            <a:off x="4481196" y="177770"/>
            <a:ext cx="7344407" cy="6109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700" dirty="0"/>
              <a:t>9,0,0,0,0,0,0,0,0,0,0,0,0,0,0,0,0,0,0,0,0,0,0,0,0,0,0,0,0,0,0,0,0,0,0,0,0,0,0,0,0,0,0,0,0,0,0,0,0,0,0,0,0,0,0,0,0,0,0,0,0,0,0,0,0,0,0,0,0,0,0,0,0,0,0,0,0,0,0,0,0,0,0,0,0,0,0,0,0,0,0,0,0,0,0,0,0,0,0,0,0,0,0,0,0,0,0,0,0,0,0,0,0,0,0,0,0,0,0,0,0,0,0,0,0,0,0,0,0,0,0,0,0,0,0,0,0,0,0,0,0,0,0,0,0,0,0,0,0,0,0,0,0,0,0,0,0,0,0,0,0,0,0,0,0,0,0,0,0,0,0,0,0,0,0,0,0,0,0,0,0,0,0,0,31,144,250,254,166,0,0,0,0,0,0,0,0,0,0,0,0,0,0,0,0,0,0,0,0,0,0,98,241,204,97,126,253,40,0,0,0,0,0,0,0,0,0,0,0,0,0,0,0,0,0,0,0,6,121,247,133,16,0,50,253,27,0,0,0,0,0,0,0,0,0,0,0,0,0,0,0,0,0,0,0,103,253,109,0,0,0,120,231,0,0,0,0,0,0,0,0,0,0,0,0,0,0,0,0,0,0,0,18,234,169,4,0,0,31,220,231,0,0,0,0,0,0,0,0,0,0,0,0,0,0,0,0,0,0,4,215,212,18,0,0,0,195,254,139,0,0,0,0,0,0,0,0,0,0,0,0,0,0,0,0,0,0,88,253,63,0,0,0,90,251,242,23,0,0,0,0,0,0,0,0,0,0,0,0,0,0,0,0,0,0,183,214,5,0,0,24,233,253,133,0,0,0,0,0,0,0,0,0,0,0,0,0,0,0,0,0,0,0,254,124,0,0,14,197,253,149,14,0,0,0,0,0,0,0,0,0,0,0,0,0,0,0,0,0,0,67,254,45,0,71,224,254,218,15,0,0,0,0,0,0,0,0,0,0,0,0,0,0,0,0,0,0,0,45,246,214,227,248,241,255,111,0,0,0,0,0,0,0,0,0,0,0,0,0,0,0,0,0,0,0,0,0,94,193,167,78,226,189,8,0,0,0,0,0,0,0,0,0,0,0,0,0,0,0,0,0,0,0,0,0,0,0,1,145,249,53,0,0,0,0,0,0,0,0,0,0,0,0,0,0,0,0,0,0,0,0,0,0,0,0,64,253,130,0,0,0,0,0,0,0,0,0,0,0,0,0,0,0,0,0,0,0,0,0,0,0,0,0,230,227,12,0,0,0,0,0,0,0,0,0,0,0,0,0,0,0,0,0,0,0,0,0,0,0,0,52,250,104,0,0,0,0,0,0,0,0,0,0,0,0,0,0,0,0,0,0,0,0,0,0,0,0,8,206,223,11,0,0,0,0,0,0,0,0,0,0,0,0,0,0,0,0,0,0,0,0,0,0,0,0,105,253,45,0,0,0,0,0,0,0,0,0,0,0,0,0,0,0,0,0,0,0,0,0,0,0,0,0,214,207,4,0,0,0,0,0,0,0,0,0,0,0,0,0,0,0,0,0,0,0,0,0,0,0,0,0,232,106,0,0,0,0,0,0,0,0,0,0,0,0,0,0,0,0,0,0,0,0,0,0,0,0,0,0,0,0,0,0,0,0,0,0,0,0,0,0,0,0,0,0,0,0,0,0,0,0,0,0,0,0,0,0,0,0,0,0,0,0,0,0,0,0,0,0,0,0,0,0,0,0</a:t>
            </a:r>
          </a:p>
        </p:txBody>
      </p:sp>
    </p:spTree>
    <p:extLst>
      <p:ext uri="{BB962C8B-B14F-4D97-AF65-F5344CB8AC3E}">
        <p14:creationId xmlns:p14="http://schemas.microsoft.com/office/powerpoint/2010/main" val="3890780315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0FFED1-DB29-0149-DA6D-FB76B296E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" name="Rectangle 101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A877710-D84A-9DE6-6601-9E1B3F37EF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36" y="639520"/>
            <a:ext cx="402336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4.2</a:t>
            </a:r>
            <a:b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Was </a:t>
            </a:r>
            <a:r>
              <a:rPr lang="en-US" sz="3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ist</a:t>
            </a:r>
            <a: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der Aufbau</a:t>
            </a:r>
          </a:p>
        </p:txBody>
      </p:sp>
      <p:sp>
        <p:nvSpPr>
          <p:cNvPr id="104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8E40DDB-FA6F-4F90-CC1C-98DC3CE4FC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935" y="2807208"/>
            <a:ext cx="3582249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/>
              <a:t>Label </a:t>
            </a:r>
            <a:r>
              <a:rPr lang="en-US" sz="2200" dirty="0" err="1"/>
              <a:t>ausschließen</a:t>
            </a:r>
            <a:endParaRPr lang="en-US" sz="2200" dirty="0"/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200" dirty="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200" dirty="0"/>
              <a:t>  Bild </a:t>
            </a:r>
            <a:r>
              <a:rPr lang="en-US" sz="2200" dirty="0" err="1"/>
              <a:t>erstellen</a:t>
            </a:r>
            <a:endParaRPr lang="en-US" sz="2200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D04876DD-135A-85F2-3400-AB83ADDD08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7733" y="261841"/>
            <a:ext cx="6903720" cy="5576572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D57B992-26AD-C717-F8D6-EDED448719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11.02.2024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DFBD7A6-8D3D-F539-3614-262C3E125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Neuronale Netze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BA65850-6F2E-376E-5999-68ECA7407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Mathis Grün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C83E91A6-E855-F529-E7AF-FF44680E88BB}"/>
              </a:ext>
            </a:extLst>
          </p:cNvPr>
          <p:cNvSpPr txBox="1"/>
          <p:nvPr/>
        </p:nvSpPr>
        <p:spPr>
          <a:xfrm>
            <a:off x="4844119" y="5921370"/>
            <a:ext cx="4961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chemeClr val="bg2">
                    <a:lumMod val="75000"/>
                  </a:schemeClr>
                </a:solidFill>
              </a:rPr>
              <a:t>Thesenpapier Abbildung 14</a:t>
            </a:r>
          </a:p>
        </p:txBody>
      </p:sp>
    </p:spTree>
    <p:extLst>
      <p:ext uri="{BB962C8B-B14F-4D97-AF65-F5344CB8AC3E}">
        <p14:creationId xmlns:p14="http://schemas.microsoft.com/office/powerpoint/2010/main" val="985175569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B7A2EA-A292-F4BE-6B64-80839CD68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" name="Rectangle 80">
            <a:extLst>
              <a:ext uri="{FF2B5EF4-FFF2-40B4-BE49-F238E27FC236}">
                <a16:creationId xmlns:a16="http://schemas.microsoft.com/office/drawing/2014/main" id="{71F3F0ED-7D21-703E-AD22-6898DECEDD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7D4D992-4B38-B58E-75E8-E39907C873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35" y="639520"/>
            <a:ext cx="4265155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4.2</a:t>
            </a:r>
            <a:b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Was </a:t>
            </a:r>
            <a:r>
              <a:rPr lang="en-US" sz="3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ist</a:t>
            </a:r>
            <a: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der Aufbau</a:t>
            </a:r>
          </a:p>
        </p:txBody>
      </p:sp>
      <p:sp>
        <p:nvSpPr>
          <p:cNvPr id="83" name="sketch line">
            <a:extLst>
              <a:ext uri="{FF2B5EF4-FFF2-40B4-BE49-F238E27FC236}">
                <a16:creationId xmlns:a16="http://schemas.microsoft.com/office/drawing/2014/main" id="{9CBD4476-4372-B0C5-09D7-E40306358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A702C18-2D3F-A70F-2F62-376BEBAE8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935" y="2824275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200" dirty="0" err="1"/>
              <a:t>Daten</a:t>
            </a:r>
            <a:r>
              <a:rPr lang="en-US" sz="2200" dirty="0"/>
              <a:t> </a:t>
            </a:r>
            <a:r>
              <a:rPr lang="en-US" sz="2200" dirty="0" err="1"/>
              <a:t>beispiel</a:t>
            </a:r>
            <a:endParaRPr lang="en-US" sz="220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B5519E6-2684-5425-AE16-FC3929C7EA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11.02.2024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3681485-FDC4-47F6-E84C-90AFE5D1D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Neuronale Netze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234B9FB-2F90-D502-BE46-F15B9E54D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Mathis Grün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597CF463-1660-62A7-CDD3-63BE73EF44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6002" y="933689"/>
            <a:ext cx="5481217" cy="4716596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B6A2BB6D-CE5C-12EE-B994-A9341C4BA54A}"/>
              </a:ext>
            </a:extLst>
          </p:cNvPr>
          <p:cNvSpPr txBox="1"/>
          <p:nvPr/>
        </p:nvSpPr>
        <p:spPr>
          <a:xfrm>
            <a:off x="5276002" y="5762838"/>
            <a:ext cx="4961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chemeClr val="bg2">
                    <a:lumMod val="75000"/>
                  </a:schemeClr>
                </a:solidFill>
              </a:rPr>
              <a:t>Thesenpapier Abbildung 15</a:t>
            </a:r>
          </a:p>
        </p:txBody>
      </p:sp>
      <p:pic>
        <p:nvPicPr>
          <p:cNvPr id="9" name="Grafik 8" descr="Ein Bild, das Entwurf, Kunst enthält.&#10;&#10;Automatisch generierte Beschreibung">
            <a:extLst>
              <a:ext uri="{FF2B5EF4-FFF2-40B4-BE49-F238E27FC236}">
                <a16:creationId xmlns:a16="http://schemas.microsoft.com/office/drawing/2014/main" id="{FE71769A-E028-CDB3-348A-A0DF00BB82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6185" y="0"/>
            <a:ext cx="1715815" cy="144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301710"/>
      </p:ext>
    </p:extLst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6FD43F-DC54-5ABB-29B6-2D9A248EE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A0D29E00-6A5B-9346-36BF-9DAE0CFA5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7D59662-FF85-CEEF-8102-1772BD9AD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5. Code </a:t>
            </a:r>
            <a:r>
              <a:rPr lang="en-US" sz="5400" dirty="0" err="1"/>
              <a:t>Implementierung</a:t>
            </a:r>
            <a:endParaRPr lang="en-US" sz="5400" dirty="0"/>
          </a:p>
        </p:txBody>
      </p:sp>
      <p:sp>
        <p:nvSpPr>
          <p:cNvPr id="39" name="sketchy line">
            <a:extLst>
              <a:ext uri="{FF2B5EF4-FFF2-40B4-BE49-F238E27FC236}">
                <a16:creationId xmlns:a16="http://schemas.microsoft.com/office/drawing/2014/main" id="{1CB21B27-600C-F6D2-FEFD-729A1003B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4C9AEC3-63E4-2844-F28E-89E0A268DA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2493" y="2071316"/>
            <a:ext cx="6713552" cy="411917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228600">
              <a:buFont typeface="Arial" panose="020B0604020202020204" pitchFamily="34" charset="0"/>
              <a:buChar char="•"/>
            </a:pPr>
            <a:r>
              <a:rPr lang="en-US" sz="2200" dirty="0"/>
              <a:t>Code </a:t>
            </a:r>
            <a:r>
              <a:rPr lang="en-US" sz="2200" dirty="0" err="1"/>
              <a:t>Grundstruktur</a:t>
            </a:r>
            <a:endParaRPr lang="en-US" sz="2200" dirty="0"/>
          </a:p>
          <a:p>
            <a:pPr marL="228600"/>
            <a:endParaRPr lang="en-US" sz="2200" dirty="0"/>
          </a:p>
          <a:p>
            <a:pPr marL="457200" indent="-228600">
              <a:buFont typeface="Arial" panose="020B0604020202020204" pitchFamily="34" charset="0"/>
              <a:buChar char="•"/>
            </a:pPr>
            <a:r>
              <a:rPr lang="en-US" sz="2200" dirty="0"/>
              <a:t>Trainings </a:t>
            </a:r>
            <a:r>
              <a:rPr lang="en-US" sz="2200" dirty="0" err="1"/>
              <a:t>Prozess</a:t>
            </a:r>
            <a:endParaRPr lang="en-US" sz="2200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DA14104-3B08-3AAE-6B70-71C89909CD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0" r="2480"/>
          <a:stretch/>
        </p:blipFill>
        <p:spPr>
          <a:xfrm>
            <a:off x="6903762" y="1875694"/>
            <a:ext cx="3941064" cy="4096512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374201F-3B17-ACBA-36D9-7AFE8F08E9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11.02.2024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1996B90-8876-FACA-F702-EEF042B18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kern="120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t>Neuronale Netze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1A45C8A-42F2-6428-0B8F-01AC03641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Mathis Grün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ED105E28-222A-6D30-F749-9A293BA9E332}"/>
              </a:ext>
            </a:extLst>
          </p:cNvPr>
          <p:cNvSpPr txBox="1"/>
          <p:nvPr/>
        </p:nvSpPr>
        <p:spPr>
          <a:xfrm>
            <a:off x="6465804" y="6035913"/>
            <a:ext cx="4961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chemeClr val="bg2">
                    <a:lumMod val="75000"/>
                  </a:schemeClr>
                </a:solidFill>
              </a:rPr>
              <a:t>https://thenounproject.com/icon/python-1375869/</a:t>
            </a:r>
          </a:p>
        </p:txBody>
      </p:sp>
      <p:pic>
        <p:nvPicPr>
          <p:cNvPr id="9" name="Grafik 8" descr="Ein Bild, das Entwurf, Kunst enthält.&#10;&#10;Automatisch generierte Beschreibung">
            <a:extLst>
              <a:ext uri="{FF2B5EF4-FFF2-40B4-BE49-F238E27FC236}">
                <a16:creationId xmlns:a16="http://schemas.microsoft.com/office/drawing/2014/main" id="{D675B7E0-4991-2EE5-9625-001D8717D3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6185" y="0"/>
            <a:ext cx="1715815" cy="144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281850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F6E849-6378-D83E-57B0-71CEA9C5B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8" name="Rectangle 87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9B90770-1DDB-951C-1731-618331EF75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36" y="639520"/>
            <a:ext cx="453483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800" dirty="0"/>
              <a:t>5</a:t>
            </a:r>
            <a: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.1</a:t>
            </a:r>
            <a:b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Code </a:t>
            </a:r>
            <a:r>
              <a:rPr lang="en-US" sz="3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Grundstruktur</a:t>
            </a:r>
            <a:endParaRPr lang="en-US" sz="38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0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00F8158-B925-21E7-5114-D6C8FFFAF9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200" dirty="0"/>
              <a:t>Library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200" dirty="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200" dirty="0" err="1"/>
              <a:t>Klasse</a:t>
            </a:r>
            <a:r>
              <a:rPr lang="en-US" sz="2200" dirty="0"/>
              <a:t> </a:t>
            </a:r>
            <a:r>
              <a:rPr lang="en-US" sz="2200" dirty="0" err="1"/>
              <a:t>erstellen</a:t>
            </a:r>
            <a:endParaRPr lang="en-US" sz="2200" dirty="0"/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200" dirty="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200" dirty="0" err="1"/>
              <a:t>Funktionen</a:t>
            </a:r>
            <a:r>
              <a:rPr lang="en-US" sz="2200" dirty="0"/>
              <a:t> </a:t>
            </a:r>
            <a:r>
              <a:rPr lang="en-US" sz="2200" dirty="0" err="1"/>
              <a:t>festlegen</a:t>
            </a:r>
            <a:endParaRPr lang="en-US" sz="2200" dirty="0"/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0FA7FD52-A3D3-D704-86F1-4940C4C725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1484" y="385889"/>
            <a:ext cx="4741163" cy="5577840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BE0AD67-E28B-C191-0B75-FC72DE3ED9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11.02.2024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7902584-087D-4DED-D90A-D110215B7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Neuronale Netze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D18C93-EE47-17C3-5BEB-01F7DB4A4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Mathis Grün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882F4E8-DB63-22F1-8FFC-6A736E5C2704}"/>
              </a:ext>
            </a:extLst>
          </p:cNvPr>
          <p:cNvSpPr txBox="1"/>
          <p:nvPr/>
        </p:nvSpPr>
        <p:spPr>
          <a:xfrm>
            <a:off x="5761484" y="6041841"/>
            <a:ext cx="4961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chemeClr val="bg2">
                    <a:lumMod val="75000"/>
                  </a:schemeClr>
                </a:solidFill>
              </a:rPr>
              <a:t>Thesenpapier Abbildung 16</a:t>
            </a:r>
          </a:p>
        </p:txBody>
      </p:sp>
      <p:pic>
        <p:nvPicPr>
          <p:cNvPr id="8" name="Grafik 7" descr="Ein Bild, das Entwurf, Kunst enthält.&#10;&#10;Automatisch generierte Beschreibung">
            <a:extLst>
              <a:ext uri="{FF2B5EF4-FFF2-40B4-BE49-F238E27FC236}">
                <a16:creationId xmlns:a16="http://schemas.microsoft.com/office/drawing/2014/main" id="{7663E70D-F2E4-6666-C01E-79BD241BC1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6185" y="0"/>
            <a:ext cx="1715815" cy="144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339480"/>
      </p:ext>
    </p:extLst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C477EB-67CF-A9A2-1F62-947FEC890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A2E7C1E-2B5A-4BBA-AE51-1CD8C1930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6">
            <a:extLst>
              <a:ext uri="{FF2B5EF4-FFF2-40B4-BE49-F238E27FC236}">
                <a16:creationId xmlns:a16="http://schemas.microsoft.com/office/drawing/2014/main" id="{43DF76B1-5174-4FAF-9D19-FFEE98426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38200" y="720953"/>
            <a:ext cx="10515600" cy="5416094"/>
          </a:xfrm>
          <a:custGeom>
            <a:avLst/>
            <a:gdLst>
              <a:gd name="connsiteX0" fmla="*/ 0 w 10515600"/>
              <a:gd name="connsiteY0" fmla="*/ 0 h 5416094"/>
              <a:gd name="connsiteX1" fmla="*/ 552069 w 10515600"/>
              <a:gd name="connsiteY1" fmla="*/ 0 h 5416094"/>
              <a:gd name="connsiteX2" fmla="*/ 893826 w 10515600"/>
              <a:gd name="connsiteY2" fmla="*/ 0 h 5416094"/>
              <a:gd name="connsiteX3" fmla="*/ 1761363 w 10515600"/>
              <a:gd name="connsiteY3" fmla="*/ 0 h 5416094"/>
              <a:gd name="connsiteX4" fmla="*/ 2313432 w 10515600"/>
              <a:gd name="connsiteY4" fmla="*/ 0 h 5416094"/>
              <a:gd name="connsiteX5" fmla="*/ 2865501 w 10515600"/>
              <a:gd name="connsiteY5" fmla="*/ 0 h 5416094"/>
              <a:gd name="connsiteX6" fmla="*/ 3733038 w 10515600"/>
              <a:gd name="connsiteY6" fmla="*/ 0 h 5416094"/>
              <a:gd name="connsiteX7" fmla="*/ 4179951 w 10515600"/>
              <a:gd name="connsiteY7" fmla="*/ 0 h 5416094"/>
              <a:gd name="connsiteX8" fmla="*/ 5047488 w 10515600"/>
              <a:gd name="connsiteY8" fmla="*/ 0 h 5416094"/>
              <a:gd name="connsiteX9" fmla="*/ 5915025 w 10515600"/>
              <a:gd name="connsiteY9" fmla="*/ 0 h 5416094"/>
              <a:gd name="connsiteX10" fmla="*/ 6572250 w 10515600"/>
              <a:gd name="connsiteY10" fmla="*/ 0 h 5416094"/>
              <a:gd name="connsiteX11" fmla="*/ 7439787 w 10515600"/>
              <a:gd name="connsiteY11" fmla="*/ 0 h 5416094"/>
              <a:gd name="connsiteX12" fmla="*/ 7991856 w 10515600"/>
              <a:gd name="connsiteY12" fmla="*/ 0 h 5416094"/>
              <a:gd name="connsiteX13" fmla="*/ 8543925 w 10515600"/>
              <a:gd name="connsiteY13" fmla="*/ 0 h 5416094"/>
              <a:gd name="connsiteX14" fmla="*/ 9306306 w 10515600"/>
              <a:gd name="connsiteY14" fmla="*/ 0 h 5416094"/>
              <a:gd name="connsiteX15" fmla="*/ 9858375 w 10515600"/>
              <a:gd name="connsiteY15" fmla="*/ 0 h 5416094"/>
              <a:gd name="connsiteX16" fmla="*/ 10515600 w 10515600"/>
              <a:gd name="connsiteY16" fmla="*/ 0 h 5416094"/>
              <a:gd name="connsiteX17" fmla="*/ 10515600 w 10515600"/>
              <a:gd name="connsiteY17" fmla="*/ 785334 h 5416094"/>
              <a:gd name="connsiteX18" fmla="*/ 10515600 w 10515600"/>
              <a:gd name="connsiteY18" fmla="*/ 1516506 h 5416094"/>
              <a:gd name="connsiteX19" fmla="*/ 10515600 w 10515600"/>
              <a:gd name="connsiteY19" fmla="*/ 2247679 h 5416094"/>
              <a:gd name="connsiteX20" fmla="*/ 10515600 w 10515600"/>
              <a:gd name="connsiteY20" fmla="*/ 2762208 h 5416094"/>
              <a:gd name="connsiteX21" fmla="*/ 10515600 w 10515600"/>
              <a:gd name="connsiteY21" fmla="*/ 3330898 h 5416094"/>
              <a:gd name="connsiteX22" fmla="*/ 10515600 w 10515600"/>
              <a:gd name="connsiteY22" fmla="*/ 4062071 h 5416094"/>
              <a:gd name="connsiteX23" fmla="*/ 10515600 w 10515600"/>
              <a:gd name="connsiteY23" fmla="*/ 4684921 h 5416094"/>
              <a:gd name="connsiteX24" fmla="*/ 10515600 w 10515600"/>
              <a:gd name="connsiteY24" fmla="*/ 5416094 h 5416094"/>
              <a:gd name="connsiteX25" fmla="*/ 9753219 w 10515600"/>
              <a:gd name="connsiteY25" fmla="*/ 5416094 h 5416094"/>
              <a:gd name="connsiteX26" fmla="*/ 9411462 w 10515600"/>
              <a:gd name="connsiteY26" fmla="*/ 5416094 h 5416094"/>
              <a:gd name="connsiteX27" fmla="*/ 8754237 w 10515600"/>
              <a:gd name="connsiteY27" fmla="*/ 5416094 h 5416094"/>
              <a:gd name="connsiteX28" fmla="*/ 8307324 w 10515600"/>
              <a:gd name="connsiteY28" fmla="*/ 5416094 h 5416094"/>
              <a:gd name="connsiteX29" fmla="*/ 7544943 w 10515600"/>
              <a:gd name="connsiteY29" fmla="*/ 5416094 h 5416094"/>
              <a:gd name="connsiteX30" fmla="*/ 7098030 w 10515600"/>
              <a:gd name="connsiteY30" fmla="*/ 5416094 h 5416094"/>
              <a:gd name="connsiteX31" fmla="*/ 6335649 w 10515600"/>
              <a:gd name="connsiteY31" fmla="*/ 5416094 h 5416094"/>
              <a:gd name="connsiteX32" fmla="*/ 5993892 w 10515600"/>
              <a:gd name="connsiteY32" fmla="*/ 5416094 h 5416094"/>
              <a:gd name="connsiteX33" fmla="*/ 5231511 w 10515600"/>
              <a:gd name="connsiteY33" fmla="*/ 5416094 h 5416094"/>
              <a:gd name="connsiteX34" fmla="*/ 4784598 w 10515600"/>
              <a:gd name="connsiteY34" fmla="*/ 5416094 h 5416094"/>
              <a:gd name="connsiteX35" fmla="*/ 4442841 w 10515600"/>
              <a:gd name="connsiteY35" fmla="*/ 5416094 h 5416094"/>
              <a:gd name="connsiteX36" fmla="*/ 3995928 w 10515600"/>
              <a:gd name="connsiteY36" fmla="*/ 5416094 h 5416094"/>
              <a:gd name="connsiteX37" fmla="*/ 3233547 w 10515600"/>
              <a:gd name="connsiteY37" fmla="*/ 5416094 h 5416094"/>
              <a:gd name="connsiteX38" fmla="*/ 2786634 w 10515600"/>
              <a:gd name="connsiteY38" fmla="*/ 5416094 h 5416094"/>
              <a:gd name="connsiteX39" fmla="*/ 2444877 w 10515600"/>
              <a:gd name="connsiteY39" fmla="*/ 5416094 h 5416094"/>
              <a:gd name="connsiteX40" fmla="*/ 1997964 w 10515600"/>
              <a:gd name="connsiteY40" fmla="*/ 5416094 h 5416094"/>
              <a:gd name="connsiteX41" fmla="*/ 1445895 w 10515600"/>
              <a:gd name="connsiteY41" fmla="*/ 5416094 h 5416094"/>
              <a:gd name="connsiteX42" fmla="*/ 788670 w 10515600"/>
              <a:gd name="connsiteY42" fmla="*/ 5416094 h 5416094"/>
              <a:gd name="connsiteX43" fmla="*/ 0 w 10515600"/>
              <a:gd name="connsiteY43" fmla="*/ 5416094 h 5416094"/>
              <a:gd name="connsiteX44" fmla="*/ 0 w 10515600"/>
              <a:gd name="connsiteY44" fmla="*/ 4630760 h 5416094"/>
              <a:gd name="connsiteX45" fmla="*/ 0 w 10515600"/>
              <a:gd name="connsiteY45" fmla="*/ 3953749 h 5416094"/>
              <a:gd name="connsiteX46" fmla="*/ 0 w 10515600"/>
              <a:gd name="connsiteY46" fmla="*/ 3276737 h 5416094"/>
              <a:gd name="connsiteX47" fmla="*/ 0 w 10515600"/>
              <a:gd name="connsiteY47" fmla="*/ 2599725 h 5416094"/>
              <a:gd name="connsiteX48" fmla="*/ 0 w 10515600"/>
              <a:gd name="connsiteY48" fmla="*/ 1922713 h 5416094"/>
              <a:gd name="connsiteX49" fmla="*/ 0 w 10515600"/>
              <a:gd name="connsiteY49" fmla="*/ 1299863 h 5416094"/>
              <a:gd name="connsiteX50" fmla="*/ 0 w 10515600"/>
              <a:gd name="connsiteY50" fmla="*/ 0 h 5416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0515600" h="5416094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24919" y="196329"/>
                  <a:pt x="10549062" y="488432"/>
                  <a:pt x="10515600" y="785334"/>
                </a:cubicBezTo>
                <a:cubicBezTo>
                  <a:pt x="10482138" y="1082236"/>
                  <a:pt x="10536385" y="1323726"/>
                  <a:pt x="10515600" y="1516506"/>
                </a:cubicBezTo>
                <a:cubicBezTo>
                  <a:pt x="10494815" y="1709286"/>
                  <a:pt x="10546328" y="2097632"/>
                  <a:pt x="10515600" y="2247679"/>
                </a:cubicBezTo>
                <a:cubicBezTo>
                  <a:pt x="10484872" y="2397726"/>
                  <a:pt x="10491771" y="2577292"/>
                  <a:pt x="10515600" y="2762208"/>
                </a:cubicBezTo>
                <a:cubicBezTo>
                  <a:pt x="10539429" y="2947124"/>
                  <a:pt x="10511007" y="3105736"/>
                  <a:pt x="10515600" y="3330898"/>
                </a:cubicBezTo>
                <a:cubicBezTo>
                  <a:pt x="10520194" y="3556060"/>
                  <a:pt x="10497393" y="3882611"/>
                  <a:pt x="10515600" y="4062071"/>
                </a:cubicBezTo>
                <a:cubicBezTo>
                  <a:pt x="10533807" y="4241531"/>
                  <a:pt x="10544791" y="4505155"/>
                  <a:pt x="10515600" y="4684921"/>
                </a:cubicBezTo>
                <a:cubicBezTo>
                  <a:pt x="10486410" y="4864687"/>
                  <a:pt x="10497356" y="5246484"/>
                  <a:pt x="10515600" y="5416094"/>
                </a:cubicBezTo>
                <a:cubicBezTo>
                  <a:pt x="10245623" y="5445692"/>
                  <a:pt x="10029676" y="5415505"/>
                  <a:pt x="9753219" y="5416094"/>
                </a:cubicBezTo>
                <a:cubicBezTo>
                  <a:pt x="9476762" y="5416683"/>
                  <a:pt x="9553148" y="5422760"/>
                  <a:pt x="9411462" y="5416094"/>
                </a:cubicBezTo>
                <a:cubicBezTo>
                  <a:pt x="9269776" y="5409428"/>
                  <a:pt x="8927709" y="5385012"/>
                  <a:pt x="8754237" y="5416094"/>
                </a:cubicBezTo>
                <a:cubicBezTo>
                  <a:pt x="8580766" y="5447176"/>
                  <a:pt x="8413264" y="5410024"/>
                  <a:pt x="8307324" y="5416094"/>
                </a:cubicBezTo>
                <a:cubicBezTo>
                  <a:pt x="8201384" y="5422164"/>
                  <a:pt x="7912690" y="5421686"/>
                  <a:pt x="7544943" y="5416094"/>
                </a:cubicBezTo>
                <a:cubicBezTo>
                  <a:pt x="7177196" y="5410502"/>
                  <a:pt x="7304235" y="5418502"/>
                  <a:pt x="7098030" y="5416094"/>
                </a:cubicBezTo>
                <a:cubicBezTo>
                  <a:pt x="6891825" y="5413686"/>
                  <a:pt x="6541479" y="5434609"/>
                  <a:pt x="6335649" y="5416094"/>
                </a:cubicBezTo>
                <a:cubicBezTo>
                  <a:pt x="6129819" y="5397579"/>
                  <a:pt x="6106541" y="5402791"/>
                  <a:pt x="5993892" y="5416094"/>
                </a:cubicBezTo>
                <a:cubicBezTo>
                  <a:pt x="5881243" y="5429397"/>
                  <a:pt x="5545248" y="5437743"/>
                  <a:pt x="5231511" y="5416094"/>
                </a:cubicBezTo>
                <a:cubicBezTo>
                  <a:pt x="4917774" y="5394445"/>
                  <a:pt x="4963237" y="5426599"/>
                  <a:pt x="4784598" y="5416094"/>
                </a:cubicBezTo>
                <a:cubicBezTo>
                  <a:pt x="4605959" y="5405589"/>
                  <a:pt x="4605904" y="5406658"/>
                  <a:pt x="4442841" y="5416094"/>
                </a:cubicBezTo>
                <a:cubicBezTo>
                  <a:pt x="4279778" y="5425530"/>
                  <a:pt x="4177180" y="5426138"/>
                  <a:pt x="3995928" y="5416094"/>
                </a:cubicBezTo>
                <a:cubicBezTo>
                  <a:pt x="3814676" y="5406050"/>
                  <a:pt x="3516440" y="5429234"/>
                  <a:pt x="3233547" y="5416094"/>
                </a:cubicBezTo>
                <a:cubicBezTo>
                  <a:pt x="2950654" y="5402954"/>
                  <a:pt x="2884354" y="5436103"/>
                  <a:pt x="2786634" y="5416094"/>
                </a:cubicBezTo>
                <a:cubicBezTo>
                  <a:pt x="2688914" y="5396085"/>
                  <a:pt x="2522958" y="5423232"/>
                  <a:pt x="2444877" y="5416094"/>
                </a:cubicBezTo>
                <a:cubicBezTo>
                  <a:pt x="2366796" y="5408956"/>
                  <a:pt x="2104768" y="5395479"/>
                  <a:pt x="1997964" y="5416094"/>
                </a:cubicBezTo>
                <a:cubicBezTo>
                  <a:pt x="1891160" y="5436709"/>
                  <a:pt x="1573016" y="5412376"/>
                  <a:pt x="1445895" y="5416094"/>
                </a:cubicBezTo>
                <a:cubicBezTo>
                  <a:pt x="1318774" y="5419812"/>
                  <a:pt x="986443" y="5400529"/>
                  <a:pt x="788670" y="5416094"/>
                </a:cubicBezTo>
                <a:cubicBezTo>
                  <a:pt x="590897" y="5431659"/>
                  <a:pt x="363709" y="5381266"/>
                  <a:pt x="0" y="5416094"/>
                </a:cubicBezTo>
                <a:cubicBezTo>
                  <a:pt x="-22973" y="5218643"/>
                  <a:pt x="-26699" y="5010779"/>
                  <a:pt x="0" y="4630760"/>
                </a:cubicBezTo>
                <a:cubicBezTo>
                  <a:pt x="26699" y="4250741"/>
                  <a:pt x="-15389" y="4196664"/>
                  <a:pt x="0" y="3953749"/>
                </a:cubicBezTo>
                <a:cubicBezTo>
                  <a:pt x="15389" y="3710834"/>
                  <a:pt x="468" y="3611311"/>
                  <a:pt x="0" y="3276737"/>
                </a:cubicBezTo>
                <a:cubicBezTo>
                  <a:pt x="-468" y="2942163"/>
                  <a:pt x="15360" y="2781998"/>
                  <a:pt x="0" y="2599725"/>
                </a:cubicBezTo>
                <a:cubicBezTo>
                  <a:pt x="-15360" y="2417452"/>
                  <a:pt x="14816" y="2100232"/>
                  <a:pt x="0" y="1922713"/>
                </a:cubicBezTo>
                <a:cubicBezTo>
                  <a:pt x="-14816" y="1745194"/>
                  <a:pt x="-24648" y="1604167"/>
                  <a:pt x="0" y="1299863"/>
                </a:cubicBezTo>
                <a:cubicBezTo>
                  <a:pt x="24648" y="995559"/>
                  <a:pt x="2182" y="279525"/>
                  <a:pt x="0" y="0"/>
                </a:cubicBezTo>
                <a:close/>
              </a:path>
            </a:pathLst>
          </a:custGeom>
          <a:noFill/>
          <a:ln w="4762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9CFCB94C-1D50-77C0-DB11-D9554B9A650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791" t="8929"/>
          <a:stretch/>
        </p:blipFill>
        <p:spPr>
          <a:xfrm>
            <a:off x="990600" y="1036443"/>
            <a:ext cx="10134600" cy="4724733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811BE11-45A7-13D5-B595-43C5C45F9B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11.02.2024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C2FE5C5-957B-BAC4-055C-E766B2AD2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Neuronale Netze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18EFB02-A251-9B47-127C-F8C2D18BE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Mathis Grün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691AD41-4C6C-5207-34D3-D201745AD86F}"/>
              </a:ext>
            </a:extLst>
          </p:cNvPr>
          <p:cNvSpPr txBox="1"/>
          <p:nvPr/>
        </p:nvSpPr>
        <p:spPr>
          <a:xfrm>
            <a:off x="1293541" y="111512"/>
            <a:ext cx="96792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Festlegen der verwendeten Anfangswerte und -gewichte 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B6B272E4-A1FB-2BAC-EB30-D0A62390C532}"/>
              </a:ext>
            </a:extLst>
          </p:cNvPr>
          <p:cNvSpPr txBox="1"/>
          <p:nvPr/>
        </p:nvSpPr>
        <p:spPr>
          <a:xfrm>
            <a:off x="990600" y="5788909"/>
            <a:ext cx="4961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chemeClr val="bg2">
                    <a:lumMod val="75000"/>
                  </a:schemeClr>
                </a:solidFill>
              </a:rPr>
              <a:t>Thesenpapier Abbildung 17</a:t>
            </a:r>
          </a:p>
        </p:txBody>
      </p:sp>
    </p:spTree>
    <p:extLst>
      <p:ext uri="{BB962C8B-B14F-4D97-AF65-F5344CB8AC3E}">
        <p14:creationId xmlns:p14="http://schemas.microsoft.com/office/powerpoint/2010/main" val="3829241663"/>
      </p:ext>
    </p:extLst>
  </p:cSld>
  <p:clrMapOvr>
    <a:masterClrMapping/>
  </p:clrMapOvr>
  <p:transition spd="slow">
    <p:push dir="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F2767A-24D1-AA7F-C302-A74D87ADF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A2E7C1E-2B5A-4BBA-AE51-1CD8C1930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43DF76B1-5174-4FAF-9D19-FFEE98426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38200" y="720953"/>
            <a:ext cx="10515600" cy="5416094"/>
          </a:xfrm>
          <a:custGeom>
            <a:avLst/>
            <a:gdLst>
              <a:gd name="connsiteX0" fmla="*/ 0 w 10515600"/>
              <a:gd name="connsiteY0" fmla="*/ 0 h 5416094"/>
              <a:gd name="connsiteX1" fmla="*/ 552069 w 10515600"/>
              <a:gd name="connsiteY1" fmla="*/ 0 h 5416094"/>
              <a:gd name="connsiteX2" fmla="*/ 893826 w 10515600"/>
              <a:gd name="connsiteY2" fmla="*/ 0 h 5416094"/>
              <a:gd name="connsiteX3" fmla="*/ 1761363 w 10515600"/>
              <a:gd name="connsiteY3" fmla="*/ 0 h 5416094"/>
              <a:gd name="connsiteX4" fmla="*/ 2313432 w 10515600"/>
              <a:gd name="connsiteY4" fmla="*/ 0 h 5416094"/>
              <a:gd name="connsiteX5" fmla="*/ 2865501 w 10515600"/>
              <a:gd name="connsiteY5" fmla="*/ 0 h 5416094"/>
              <a:gd name="connsiteX6" fmla="*/ 3733038 w 10515600"/>
              <a:gd name="connsiteY6" fmla="*/ 0 h 5416094"/>
              <a:gd name="connsiteX7" fmla="*/ 4179951 w 10515600"/>
              <a:gd name="connsiteY7" fmla="*/ 0 h 5416094"/>
              <a:gd name="connsiteX8" fmla="*/ 5047488 w 10515600"/>
              <a:gd name="connsiteY8" fmla="*/ 0 h 5416094"/>
              <a:gd name="connsiteX9" fmla="*/ 5915025 w 10515600"/>
              <a:gd name="connsiteY9" fmla="*/ 0 h 5416094"/>
              <a:gd name="connsiteX10" fmla="*/ 6572250 w 10515600"/>
              <a:gd name="connsiteY10" fmla="*/ 0 h 5416094"/>
              <a:gd name="connsiteX11" fmla="*/ 7439787 w 10515600"/>
              <a:gd name="connsiteY11" fmla="*/ 0 h 5416094"/>
              <a:gd name="connsiteX12" fmla="*/ 7991856 w 10515600"/>
              <a:gd name="connsiteY12" fmla="*/ 0 h 5416094"/>
              <a:gd name="connsiteX13" fmla="*/ 8543925 w 10515600"/>
              <a:gd name="connsiteY13" fmla="*/ 0 h 5416094"/>
              <a:gd name="connsiteX14" fmla="*/ 9306306 w 10515600"/>
              <a:gd name="connsiteY14" fmla="*/ 0 h 5416094"/>
              <a:gd name="connsiteX15" fmla="*/ 9858375 w 10515600"/>
              <a:gd name="connsiteY15" fmla="*/ 0 h 5416094"/>
              <a:gd name="connsiteX16" fmla="*/ 10515600 w 10515600"/>
              <a:gd name="connsiteY16" fmla="*/ 0 h 5416094"/>
              <a:gd name="connsiteX17" fmla="*/ 10515600 w 10515600"/>
              <a:gd name="connsiteY17" fmla="*/ 785334 h 5416094"/>
              <a:gd name="connsiteX18" fmla="*/ 10515600 w 10515600"/>
              <a:gd name="connsiteY18" fmla="*/ 1516506 h 5416094"/>
              <a:gd name="connsiteX19" fmla="*/ 10515600 w 10515600"/>
              <a:gd name="connsiteY19" fmla="*/ 2247679 h 5416094"/>
              <a:gd name="connsiteX20" fmla="*/ 10515600 w 10515600"/>
              <a:gd name="connsiteY20" fmla="*/ 2762208 h 5416094"/>
              <a:gd name="connsiteX21" fmla="*/ 10515600 w 10515600"/>
              <a:gd name="connsiteY21" fmla="*/ 3330898 h 5416094"/>
              <a:gd name="connsiteX22" fmla="*/ 10515600 w 10515600"/>
              <a:gd name="connsiteY22" fmla="*/ 4062071 h 5416094"/>
              <a:gd name="connsiteX23" fmla="*/ 10515600 w 10515600"/>
              <a:gd name="connsiteY23" fmla="*/ 4684921 h 5416094"/>
              <a:gd name="connsiteX24" fmla="*/ 10515600 w 10515600"/>
              <a:gd name="connsiteY24" fmla="*/ 5416094 h 5416094"/>
              <a:gd name="connsiteX25" fmla="*/ 9753219 w 10515600"/>
              <a:gd name="connsiteY25" fmla="*/ 5416094 h 5416094"/>
              <a:gd name="connsiteX26" fmla="*/ 9411462 w 10515600"/>
              <a:gd name="connsiteY26" fmla="*/ 5416094 h 5416094"/>
              <a:gd name="connsiteX27" fmla="*/ 8754237 w 10515600"/>
              <a:gd name="connsiteY27" fmla="*/ 5416094 h 5416094"/>
              <a:gd name="connsiteX28" fmla="*/ 8307324 w 10515600"/>
              <a:gd name="connsiteY28" fmla="*/ 5416094 h 5416094"/>
              <a:gd name="connsiteX29" fmla="*/ 7544943 w 10515600"/>
              <a:gd name="connsiteY29" fmla="*/ 5416094 h 5416094"/>
              <a:gd name="connsiteX30" fmla="*/ 7098030 w 10515600"/>
              <a:gd name="connsiteY30" fmla="*/ 5416094 h 5416094"/>
              <a:gd name="connsiteX31" fmla="*/ 6335649 w 10515600"/>
              <a:gd name="connsiteY31" fmla="*/ 5416094 h 5416094"/>
              <a:gd name="connsiteX32" fmla="*/ 5993892 w 10515600"/>
              <a:gd name="connsiteY32" fmla="*/ 5416094 h 5416094"/>
              <a:gd name="connsiteX33" fmla="*/ 5231511 w 10515600"/>
              <a:gd name="connsiteY33" fmla="*/ 5416094 h 5416094"/>
              <a:gd name="connsiteX34" fmla="*/ 4784598 w 10515600"/>
              <a:gd name="connsiteY34" fmla="*/ 5416094 h 5416094"/>
              <a:gd name="connsiteX35" fmla="*/ 4442841 w 10515600"/>
              <a:gd name="connsiteY35" fmla="*/ 5416094 h 5416094"/>
              <a:gd name="connsiteX36" fmla="*/ 3995928 w 10515600"/>
              <a:gd name="connsiteY36" fmla="*/ 5416094 h 5416094"/>
              <a:gd name="connsiteX37" fmla="*/ 3233547 w 10515600"/>
              <a:gd name="connsiteY37" fmla="*/ 5416094 h 5416094"/>
              <a:gd name="connsiteX38" fmla="*/ 2786634 w 10515600"/>
              <a:gd name="connsiteY38" fmla="*/ 5416094 h 5416094"/>
              <a:gd name="connsiteX39" fmla="*/ 2444877 w 10515600"/>
              <a:gd name="connsiteY39" fmla="*/ 5416094 h 5416094"/>
              <a:gd name="connsiteX40" fmla="*/ 1997964 w 10515600"/>
              <a:gd name="connsiteY40" fmla="*/ 5416094 h 5416094"/>
              <a:gd name="connsiteX41" fmla="*/ 1445895 w 10515600"/>
              <a:gd name="connsiteY41" fmla="*/ 5416094 h 5416094"/>
              <a:gd name="connsiteX42" fmla="*/ 788670 w 10515600"/>
              <a:gd name="connsiteY42" fmla="*/ 5416094 h 5416094"/>
              <a:gd name="connsiteX43" fmla="*/ 0 w 10515600"/>
              <a:gd name="connsiteY43" fmla="*/ 5416094 h 5416094"/>
              <a:gd name="connsiteX44" fmla="*/ 0 w 10515600"/>
              <a:gd name="connsiteY44" fmla="*/ 4630760 h 5416094"/>
              <a:gd name="connsiteX45" fmla="*/ 0 w 10515600"/>
              <a:gd name="connsiteY45" fmla="*/ 3953749 h 5416094"/>
              <a:gd name="connsiteX46" fmla="*/ 0 w 10515600"/>
              <a:gd name="connsiteY46" fmla="*/ 3276737 h 5416094"/>
              <a:gd name="connsiteX47" fmla="*/ 0 w 10515600"/>
              <a:gd name="connsiteY47" fmla="*/ 2599725 h 5416094"/>
              <a:gd name="connsiteX48" fmla="*/ 0 w 10515600"/>
              <a:gd name="connsiteY48" fmla="*/ 1922713 h 5416094"/>
              <a:gd name="connsiteX49" fmla="*/ 0 w 10515600"/>
              <a:gd name="connsiteY49" fmla="*/ 1299863 h 5416094"/>
              <a:gd name="connsiteX50" fmla="*/ 0 w 10515600"/>
              <a:gd name="connsiteY50" fmla="*/ 0 h 5416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0515600" h="5416094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24919" y="196329"/>
                  <a:pt x="10549062" y="488432"/>
                  <a:pt x="10515600" y="785334"/>
                </a:cubicBezTo>
                <a:cubicBezTo>
                  <a:pt x="10482138" y="1082236"/>
                  <a:pt x="10536385" y="1323726"/>
                  <a:pt x="10515600" y="1516506"/>
                </a:cubicBezTo>
                <a:cubicBezTo>
                  <a:pt x="10494815" y="1709286"/>
                  <a:pt x="10546328" y="2097632"/>
                  <a:pt x="10515600" y="2247679"/>
                </a:cubicBezTo>
                <a:cubicBezTo>
                  <a:pt x="10484872" y="2397726"/>
                  <a:pt x="10491771" y="2577292"/>
                  <a:pt x="10515600" y="2762208"/>
                </a:cubicBezTo>
                <a:cubicBezTo>
                  <a:pt x="10539429" y="2947124"/>
                  <a:pt x="10511007" y="3105736"/>
                  <a:pt x="10515600" y="3330898"/>
                </a:cubicBezTo>
                <a:cubicBezTo>
                  <a:pt x="10520194" y="3556060"/>
                  <a:pt x="10497393" y="3882611"/>
                  <a:pt x="10515600" y="4062071"/>
                </a:cubicBezTo>
                <a:cubicBezTo>
                  <a:pt x="10533807" y="4241531"/>
                  <a:pt x="10544791" y="4505155"/>
                  <a:pt x="10515600" y="4684921"/>
                </a:cubicBezTo>
                <a:cubicBezTo>
                  <a:pt x="10486410" y="4864687"/>
                  <a:pt x="10497356" y="5246484"/>
                  <a:pt x="10515600" y="5416094"/>
                </a:cubicBezTo>
                <a:cubicBezTo>
                  <a:pt x="10245623" y="5445692"/>
                  <a:pt x="10029676" y="5415505"/>
                  <a:pt x="9753219" y="5416094"/>
                </a:cubicBezTo>
                <a:cubicBezTo>
                  <a:pt x="9476762" y="5416683"/>
                  <a:pt x="9553148" y="5422760"/>
                  <a:pt x="9411462" y="5416094"/>
                </a:cubicBezTo>
                <a:cubicBezTo>
                  <a:pt x="9269776" y="5409428"/>
                  <a:pt x="8927709" y="5385012"/>
                  <a:pt x="8754237" y="5416094"/>
                </a:cubicBezTo>
                <a:cubicBezTo>
                  <a:pt x="8580766" y="5447176"/>
                  <a:pt x="8413264" y="5410024"/>
                  <a:pt x="8307324" y="5416094"/>
                </a:cubicBezTo>
                <a:cubicBezTo>
                  <a:pt x="8201384" y="5422164"/>
                  <a:pt x="7912690" y="5421686"/>
                  <a:pt x="7544943" y="5416094"/>
                </a:cubicBezTo>
                <a:cubicBezTo>
                  <a:pt x="7177196" y="5410502"/>
                  <a:pt x="7304235" y="5418502"/>
                  <a:pt x="7098030" y="5416094"/>
                </a:cubicBezTo>
                <a:cubicBezTo>
                  <a:pt x="6891825" y="5413686"/>
                  <a:pt x="6541479" y="5434609"/>
                  <a:pt x="6335649" y="5416094"/>
                </a:cubicBezTo>
                <a:cubicBezTo>
                  <a:pt x="6129819" y="5397579"/>
                  <a:pt x="6106541" y="5402791"/>
                  <a:pt x="5993892" y="5416094"/>
                </a:cubicBezTo>
                <a:cubicBezTo>
                  <a:pt x="5881243" y="5429397"/>
                  <a:pt x="5545248" y="5437743"/>
                  <a:pt x="5231511" y="5416094"/>
                </a:cubicBezTo>
                <a:cubicBezTo>
                  <a:pt x="4917774" y="5394445"/>
                  <a:pt x="4963237" y="5426599"/>
                  <a:pt x="4784598" y="5416094"/>
                </a:cubicBezTo>
                <a:cubicBezTo>
                  <a:pt x="4605959" y="5405589"/>
                  <a:pt x="4605904" y="5406658"/>
                  <a:pt x="4442841" y="5416094"/>
                </a:cubicBezTo>
                <a:cubicBezTo>
                  <a:pt x="4279778" y="5425530"/>
                  <a:pt x="4177180" y="5426138"/>
                  <a:pt x="3995928" y="5416094"/>
                </a:cubicBezTo>
                <a:cubicBezTo>
                  <a:pt x="3814676" y="5406050"/>
                  <a:pt x="3516440" y="5429234"/>
                  <a:pt x="3233547" y="5416094"/>
                </a:cubicBezTo>
                <a:cubicBezTo>
                  <a:pt x="2950654" y="5402954"/>
                  <a:pt x="2884354" y="5436103"/>
                  <a:pt x="2786634" y="5416094"/>
                </a:cubicBezTo>
                <a:cubicBezTo>
                  <a:pt x="2688914" y="5396085"/>
                  <a:pt x="2522958" y="5423232"/>
                  <a:pt x="2444877" y="5416094"/>
                </a:cubicBezTo>
                <a:cubicBezTo>
                  <a:pt x="2366796" y="5408956"/>
                  <a:pt x="2104768" y="5395479"/>
                  <a:pt x="1997964" y="5416094"/>
                </a:cubicBezTo>
                <a:cubicBezTo>
                  <a:pt x="1891160" y="5436709"/>
                  <a:pt x="1573016" y="5412376"/>
                  <a:pt x="1445895" y="5416094"/>
                </a:cubicBezTo>
                <a:cubicBezTo>
                  <a:pt x="1318774" y="5419812"/>
                  <a:pt x="986443" y="5400529"/>
                  <a:pt x="788670" y="5416094"/>
                </a:cubicBezTo>
                <a:cubicBezTo>
                  <a:pt x="590897" y="5431659"/>
                  <a:pt x="363709" y="5381266"/>
                  <a:pt x="0" y="5416094"/>
                </a:cubicBezTo>
                <a:cubicBezTo>
                  <a:pt x="-22973" y="5218643"/>
                  <a:pt x="-26699" y="5010779"/>
                  <a:pt x="0" y="4630760"/>
                </a:cubicBezTo>
                <a:cubicBezTo>
                  <a:pt x="26699" y="4250741"/>
                  <a:pt x="-15389" y="4196664"/>
                  <a:pt x="0" y="3953749"/>
                </a:cubicBezTo>
                <a:cubicBezTo>
                  <a:pt x="15389" y="3710834"/>
                  <a:pt x="468" y="3611311"/>
                  <a:pt x="0" y="3276737"/>
                </a:cubicBezTo>
                <a:cubicBezTo>
                  <a:pt x="-468" y="2942163"/>
                  <a:pt x="15360" y="2781998"/>
                  <a:pt x="0" y="2599725"/>
                </a:cubicBezTo>
                <a:cubicBezTo>
                  <a:pt x="-15360" y="2417452"/>
                  <a:pt x="14816" y="2100232"/>
                  <a:pt x="0" y="1922713"/>
                </a:cubicBezTo>
                <a:cubicBezTo>
                  <a:pt x="-14816" y="1745194"/>
                  <a:pt x="-24648" y="1604167"/>
                  <a:pt x="0" y="1299863"/>
                </a:cubicBezTo>
                <a:cubicBezTo>
                  <a:pt x="24648" y="995559"/>
                  <a:pt x="2182" y="279525"/>
                  <a:pt x="0" y="0"/>
                </a:cubicBezTo>
                <a:close/>
              </a:path>
            </a:pathLst>
          </a:custGeom>
          <a:noFill/>
          <a:ln w="4762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6793316-0EF9-E9C5-CE59-9EE4717CA0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9649" y="860451"/>
            <a:ext cx="7369654" cy="4968819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451E85B-94C4-9F9D-B8BC-1523856AE0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11.02.2024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05AAAA6-4DEE-3D9B-D8B1-6658B54D9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Neuronale Netze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865C1B6-1F17-FFAB-A63C-52F817AE4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Mathis Grün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540F64BD-C3DD-A5B7-B4D8-07F02F386FE8}"/>
              </a:ext>
            </a:extLst>
          </p:cNvPr>
          <p:cNvSpPr txBox="1"/>
          <p:nvPr/>
        </p:nvSpPr>
        <p:spPr>
          <a:xfrm>
            <a:off x="1293541" y="111512"/>
            <a:ext cx="96792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Funktion mit der man das Netz abfragen kann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BBA7B1E6-9F87-186C-199D-B06ED9D62D4C}"/>
              </a:ext>
            </a:extLst>
          </p:cNvPr>
          <p:cNvSpPr txBox="1"/>
          <p:nvPr/>
        </p:nvSpPr>
        <p:spPr>
          <a:xfrm>
            <a:off x="2409649" y="5823157"/>
            <a:ext cx="4961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chemeClr val="bg2">
                    <a:lumMod val="75000"/>
                  </a:schemeClr>
                </a:solidFill>
              </a:rPr>
              <a:t>Thesenpapier Abbildung 18</a:t>
            </a:r>
          </a:p>
        </p:txBody>
      </p:sp>
    </p:spTree>
    <p:extLst>
      <p:ext uri="{BB962C8B-B14F-4D97-AF65-F5344CB8AC3E}">
        <p14:creationId xmlns:p14="http://schemas.microsoft.com/office/powerpoint/2010/main" val="104417270"/>
      </p:ext>
    </p:extLst>
  </p:cSld>
  <p:clrMapOvr>
    <a:masterClrMapping/>
  </p:clrMapOvr>
  <p:transition spd="slow">
    <p:push dir="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BF48F7-0B88-524F-5160-F0792553C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A2E7C1E-2B5A-4BBA-AE51-1CD8C1930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43DF76B1-5174-4FAF-9D19-FFEE98426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38200" y="720953"/>
            <a:ext cx="10515600" cy="5416094"/>
          </a:xfrm>
          <a:custGeom>
            <a:avLst/>
            <a:gdLst>
              <a:gd name="connsiteX0" fmla="*/ 0 w 10515600"/>
              <a:gd name="connsiteY0" fmla="*/ 0 h 5416094"/>
              <a:gd name="connsiteX1" fmla="*/ 552069 w 10515600"/>
              <a:gd name="connsiteY1" fmla="*/ 0 h 5416094"/>
              <a:gd name="connsiteX2" fmla="*/ 893826 w 10515600"/>
              <a:gd name="connsiteY2" fmla="*/ 0 h 5416094"/>
              <a:gd name="connsiteX3" fmla="*/ 1761363 w 10515600"/>
              <a:gd name="connsiteY3" fmla="*/ 0 h 5416094"/>
              <a:gd name="connsiteX4" fmla="*/ 2313432 w 10515600"/>
              <a:gd name="connsiteY4" fmla="*/ 0 h 5416094"/>
              <a:gd name="connsiteX5" fmla="*/ 2865501 w 10515600"/>
              <a:gd name="connsiteY5" fmla="*/ 0 h 5416094"/>
              <a:gd name="connsiteX6" fmla="*/ 3733038 w 10515600"/>
              <a:gd name="connsiteY6" fmla="*/ 0 h 5416094"/>
              <a:gd name="connsiteX7" fmla="*/ 4179951 w 10515600"/>
              <a:gd name="connsiteY7" fmla="*/ 0 h 5416094"/>
              <a:gd name="connsiteX8" fmla="*/ 5047488 w 10515600"/>
              <a:gd name="connsiteY8" fmla="*/ 0 h 5416094"/>
              <a:gd name="connsiteX9" fmla="*/ 5915025 w 10515600"/>
              <a:gd name="connsiteY9" fmla="*/ 0 h 5416094"/>
              <a:gd name="connsiteX10" fmla="*/ 6572250 w 10515600"/>
              <a:gd name="connsiteY10" fmla="*/ 0 h 5416094"/>
              <a:gd name="connsiteX11" fmla="*/ 7439787 w 10515600"/>
              <a:gd name="connsiteY11" fmla="*/ 0 h 5416094"/>
              <a:gd name="connsiteX12" fmla="*/ 7991856 w 10515600"/>
              <a:gd name="connsiteY12" fmla="*/ 0 h 5416094"/>
              <a:gd name="connsiteX13" fmla="*/ 8543925 w 10515600"/>
              <a:gd name="connsiteY13" fmla="*/ 0 h 5416094"/>
              <a:gd name="connsiteX14" fmla="*/ 9306306 w 10515600"/>
              <a:gd name="connsiteY14" fmla="*/ 0 h 5416094"/>
              <a:gd name="connsiteX15" fmla="*/ 9858375 w 10515600"/>
              <a:gd name="connsiteY15" fmla="*/ 0 h 5416094"/>
              <a:gd name="connsiteX16" fmla="*/ 10515600 w 10515600"/>
              <a:gd name="connsiteY16" fmla="*/ 0 h 5416094"/>
              <a:gd name="connsiteX17" fmla="*/ 10515600 w 10515600"/>
              <a:gd name="connsiteY17" fmla="*/ 785334 h 5416094"/>
              <a:gd name="connsiteX18" fmla="*/ 10515600 w 10515600"/>
              <a:gd name="connsiteY18" fmla="*/ 1516506 h 5416094"/>
              <a:gd name="connsiteX19" fmla="*/ 10515600 w 10515600"/>
              <a:gd name="connsiteY19" fmla="*/ 2247679 h 5416094"/>
              <a:gd name="connsiteX20" fmla="*/ 10515600 w 10515600"/>
              <a:gd name="connsiteY20" fmla="*/ 2762208 h 5416094"/>
              <a:gd name="connsiteX21" fmla="*/ 10515600 w 10515600"/>
              <a:gd name="connsiteY21" fmla="*/ 3330898 h 5416094"/>
              <a:gd name="connsiteX22" fmla="*/ 10515600 w 10515600"/>
              <a:gd name="connsiteY22" fmla="*/ 4062071 h 5416094"/>
              <a:gd name="connsiteX23" fmla="*/ 10515600 w 10515600"/>
              <a:gd name="connsiteY23" fmla="*/ 4684921 h 5416094"/>
              <a:gd name="connsiteX24" fmla="*/ 10515600 w 10515600"/>
              <a:gd name="connsiteY24" fmla="*/ 5416094 h 5416094"/>
              <a:gd name="connsiteX25" fmla="*/ 9753219 w 10515600"/>
              <a:gd name="connsiteY25" fmla="*/ 5416094 h 5416094"/>
              <a:gd name="connsiteX26" fmla="*/ 9411462 w 10515600"/>
              <a:gd name="connsiteY26" fmla="*/ 5416094 h 5416094"/>
              <a:gd name="connsiteX27" fmla="*/ 8754237 w 10515600"/>
              <a:gd name="connsiteY27" fmla="*/ 5416094 h 5416094"/>
              <a:gd name="connsiteX28" fmla="*/ 8307324 w 10515600"/>
              <a:gd name="connsiteY28" fmla="*/ 5416094 h 5416094"/>
              <a:gd name="connsiteX29" fmla="*/ 7544943 w 10515600"/>
              <a:gd name="connsiteY29" fmla="*/ 5416094 h 5416094"/>
              <a:gd name="connsiteX30" fmla="*/ 7098030 w 10515600"/>
              <a:gd name="connsiteY30" fmla="*/ 5416094 h 5416094"/>
              <a:gd name="connsiteX31" fmla="*/ 6335649 w 10515600"/>
              <a:gd name="connsiteY31" fmla="*/ 5416094 h 5416094"/>
              <a:gd name="connsiteX32" fmla="*/ 5993892 w 10515600"/>
              <a:gd name="connsiteY32" fmla="*/ 5416094 h 5416094"/>
              <a:gd name="connsiteX33" fmla="*/ 5231511 w 10515600"/>
              <a:gd name="connsiteY33" fmla="*/ 5416094 h 5416094"/>
              <a:gd name="connsiteX34" fmla="*/ 4784598 w 10515600"/>
              <a:gd name="connsiteY34" fmla="*/ 5416094 h 5416094"/>
              <a:gd name="connsiteX35" fmla="*/ 4442841 w 10515600"/>
              <a:gd name="connsiteY35" fmla="*/ 5416094 h 5416094"/>
              <a:gd name="connsiteX36" fmla="*/ 3995928 w 10515600"/>
              <a:gd name="connsiteY36" fmla="*/ 5416094 h 5416094"/>
              <a:gd name="connsiteX37" fmla="*/ 3233547 w 10515600"/>
              <a:gd name="connsiteY37" fmla="*/ 5416094 h 5416094"/>
              <a:gd name="connsiteX38" fmla="*/ 2786634 w 10515600"/>
              <a:gd name="connsiteY38" fmla="*/ 5416094 h 5416094"/>
              <a:gd name="connsiteX39" fmla="*/ 2444877 w 10515600"/>
              <a:gd name="connsiteY39" fmla="*/ 5416094 h 5416094"/>
              <a:gd name="connsiteX40" fmla="*/ 1997964 w 10515600"/>
              <a:gd name="connsiteY40" fmla="*/ 5416094 h 5416094"/>
              <a:gd name="connsiteX41" fmla="*/ 1445895 w 10515600"/>
              <a:gd name="connsiteY41" fmla="*/ 5416094 h 5416094"/>
              <a:gd name="connsiteX42" fmla="*/ 788670 w 10515600"/>
              <a:gd name="connsiteY42" fmla="*/ 5416094 h 5416094"/>
              <a:gd name="connsiteX43" fmla="*/ 0 w 10515600"/>
              <a:gd name="connsiteY43" fmla="*/ 5416094 h 5416094"/>
              <a:gd name="connsiteX44" fmla="*/ 0 w 10515600"/>
              <a:gd name="connsiteY44" fmla="*/ 4630760 h 5416094"/>
              <a:gd name="connsiteX45" fmla="*/ 0 w 10515600"/>
              <a:gd name="connsiteY45" fmla="*/ 3953749 h 5416094"/>
              <a:gd name="connsiteX46" fmla="*/ 0 w 10515600"/>
              <a:gd name="connsiteY46" fmla="*/ 3276737 h 5416094"/>
              <a:gd name="connsiteX47" fmla="*/ 0 w 10515600"/>
              <a:gd name="connsiteY47" fmla="*/ 2599725 h 5416094"/>
              <a:gd name="connsiteX48" fmla="*/ 0 w 10515600"/>
              <a:gd name="connsiteY48" fmla="*/ 1922713 h 5416094"/>
              <a:gd name="connsiteX49" fmla="*/ 0 w 10515600"/>
              <a:gd name="connsiteY49" fmla="*/ 1299863 h 5416094"/>
              <a:gd name="connsiteX50" fmla="*/ 0 w 10515600"/>
              <a:gd name="connsiteY50" fmla="*/ 0 h 5416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0515600" h="5416094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24919" y="196329"/>
                  <a:pt x="10549062" y="488432"/>
                  <a:pt x="10515600" y="785334"/>
                </a:cubicBezTo>
                <a:cubicBezTo>
                  <a:pt x="10482138" y="1082236"/>
                  <a:pt x="10536385" y="1323726"/>
                  <a:pt x="10515600" y="1516506"/>
                </a:cubicBezTo>
                <a:cubicBezTo>
                  <a:pt x="10494815" y="1709286"/>
                  <a:pt x="10546328" y="2097632"/>
                  <a:pt x="10515600" y="2247679"/>
                </a:cubicBezTo>
                <a:cubicBezTo>
                  <a:pt x="10484872" y="2397726"/>
                  <a:pt x="10491771" y="2577292"/>
                  <a:pt x="10515600" y="2762208"/>
                </a:cubicBezTo>
                <a:cubicBezTo>
                  <a:pt x="10539429" y="2947124"/>
                  <a:pt x="10511007" y="3105736"/>
                  <a:pt x="10515600" y="3330898"/>
                </a:cubicBezTo>
                <a:cubicBezTo>
                  <a:pt x="10520194" y="3556060"/>
                  <a:pt x="10497393" y="3882611"/>
                  <a:pt x="10515600" y="4062071"/>
                </a:cubicBezTo>
                <a:cubicBezTo>
                  <a:pt x="10533807" y="4241531"/>
                  <a:pt x="10544791" y="4505155"/>
                  <a:pt x="10515600" y="4684921"/>
                </a:cubicBezTo>
                <a:cubicBezTo>
                  <a:pt x="10486410" y="4864687"/>
                  <a:pt x="10497356" y="5246484"/>
                  <a:pt x="10515600" y="5416094"/>
                </a:cubicBezTo>
                <a:cubicBezTo>
                  <a:pt x="10245623" y="5445692"/>
                  <a:pt x="10029676" y="5415505"/>
                  <a:pt x="9753219" y="5416094"/>
                </a:cubicBezTo>
                <a:cubicBezTo>
                  <a:pt x="9476762" y="5416683"/>
                  <a:pt x="9553148" y="5422760"/>
                  <a:pt x="9411462" y="5416094"/>
                </a:cubicBezTo>
                <a:cubicBezTo>
                  <a:pt x="9269776" y="5409428"/>
                  <a:pt x="8927709" y="5385012"/>
                  <a:pt x="8754237" y="5416094"/>
                </a:cubicBezTo>
                <a:cubicBezTo>
                  <a:pt x="8580766" y="5447176"/>
                  <a:pt x="8413264" y="5410024"/>
                  <a:pt x="8307324" y="5416094"/>
                </a:cubicBezTo>
                <a:cubicBezTo>
                  <a:pt x="8201384" y="5422164"/>
                  <a:pt x="7912690" y="5421686"/>
                  <a:pt x="7544943" y="5416094"/>
                </a:cubicBezTo>
                <a:cubicBezTo>
                  <a:pt x="7177196" y="5410502"/>
                  <a:pt x="7304235" y="5418502"/>
                  <a:pt x="7098030" y="5416094"/>
                </a:cubicBezTo>
                <a:cubicBezTo>
                  <a:pt x="6891825" y="5413686"/>
                  <a:pt x="6541479" y="5434609"/>
                  <a:pt x="6335649" y="5416094"/>
                </a:cubicBezTo>
                <a:cubicBezTo>
                  <a:pt x="6129819" y="5397579"/>
                  <a:pt x="6106541" y="5402791"/>
                  <a:pt x="5993892" y="5416094"/>
                </a:cubicBezTo>
                <a:cubicBezTo>
                  <a:pt x="5881243" y="5429397"/>
                  <a:pt x="5545248" y="5437743"/>
                  <a:pt x="5231511" y="5416094"/>
                </a:cubicBezTo>
                <a:cubicBezTo>
                  <a:pt x="4917774" y="5394445"/>
                  <a:pt x="4963237" y="5426599"/>
                  <a:pt x="4784598" y="5416094"/>
                </a:cubicBezTo>
                <a:cubicBezTo>
                  <a:pt x="4605959" y="5405589"/>
                  <a:pt x="4605904" y="5406658"/>
                  <a:pt x="4442841" y="5416094"/>
                </a:cubicBezTo>
                <a:cubicBezTo>
                  <a:pt x="4279778" y="5425530"/>
                  <a:pt x="4177180" y="5426138"/>
                  <a:pt x="3995928" y="5416094"/>
                </a:cubicBezTo>
                <a:cubicBezTo>
                  <a:pt x="3814676" y="5406050"/>
                  <a:pt x="3516440" y="5429234"/>
                  <a:pt x="3233547" y="5416094"/>
                </a:cubicBezTo>
                <a:cubicBezTo>
                  <a:pt x="2950654" y="5402954"/>
                  <a:pt x="2884354" y="5436103"/>
                  <a:pt x="2786634" y="5416094"/>
                </a:cubicBezTo>
                <a:cubicBezTo>
                  <a:pt x="2688914" y="5396085"/>
                  <a:pt x="2522958" y="5423232"/>
                  <a:pt x="2444877" y="5416094"/>
                </a:cubicBezTo>
                <a:cubicBezTo>
                  <a:pt x="2366796" y="5408956"/>
                  <a:pt x="2104768" y="5395479"/>
                  <a:pt x="1997964" y="5416094"/>
                </a:cubicBezTo>
                <a:cubicBezTo>
                  <a:pt x="1891160" y="5436709"/>
                  <a:pt x="1573016" y="5412376"/>
                  <a:pt x="1445895" y="5416094"/>
                </a:cubicBezTo>
                <a:cubicBezTo>
                  <a:pt x="1318774" y="5419812"/>
                  <a:pt x="986443" y="5400529"/>
                  <a:pt x="788670" y="5416094"/>
                </a:cubicBezTo>
                <a:cubicBezTo>
                  <a:pt x="590897" y="5431659"/>
                  <a:pt x="363709" y="5381266"/>
                  <a:pt x="0" y="5416094"/>
                </a:cubicBezTo>
                <a:cubicBezTo>
                  <a:pt x="-22973" y="5218643"/>
                  <a:pt x="-26699" y="5010779"/>
                  <a:pt x="0" y="4630760"/>
                </a:cubicBezTo>
                <a:cubicBezTo>
                  <a:pt x="26699" y="4250741"/>
                  <a:pt x="-15389" y="4196664"/>
                  <a:pt x="0" y="3953749"/>
                </a:cubicBezTo>
                <a:cubicBezTo>
                  <a:pt x="15389" y="3710834"/>
                  <a:pt x="468" y="3611311"/>
                  <a:pt x="0" y="3276737"/>
                </a:cubicBezTo>
                <a:cubicBezTo>
                  <a:pt x="-468" y="2942163"/>
                  <a:pt x="15360" y="2781998"/>
                  <a:pt x="0" y="2599725"/>
                </a:cubicBezTo>
                <a:cubicBezTo>
                  <a:pt x="-15360" y="2417452"/>
                  <a:pt x="14816" y="2100232"/>
                  <a:pt x="0" y="1922713"/>
                </a:cubicBezTo>
                <a:cubicBezTo>
                  <a:pt x="-14816" y="1745194"/>
                  <a:pt x="-24648" y="1604167"/>
                  <a:pt x="0" y="1299863"/>
                </a:cubicBezTo>
                <a:cubicBezTo>
                  <a:pt x="24648" y="995559"/>
                  <a:pt x="2182" y="279525"/>
                  <a:pt x="0" y="0"/>
                </a:cubicBezTo>
                <a:close/>
              </a:path>
            </a:pathLst>
          </a:custGeom>
          <a:noFill/>
          <a:ln w="4762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00C66B3D-3EF1-C0D4-F546-69661FA6CE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8014" y="860451"/>
            <a:ext cx="8212923" cy="4968819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AEE18A5-455E-086D-8ED7-F9B5BEE113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11.02.2024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59E1AAA-650E-F660-7641-3C9A8F52E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Neuronale Netze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68DE4C-F19D-5B57-ACAC-417838CE7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Mathis Grün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46430224-9819-462A-EE75-E3D10982BCD5}"/>
              </a:ext>
            </a:extLst>
          </p:cNvPr>
          <p:cNvSpPr txBox="1"/>
          <p:nvPr/>
        </p:nvSpPr>
        <p:spPr>
          <a:xfrm>
            <a:off x="1293541" y="111512"/>
            <a:ext cx="96792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Verwendung der Gewichtsanpassungsformel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AC7647AF-3ACE-3762-E639-46A933DE6F04}"/>
              </a:ext>
            </a:extLst>
          </p:cNvPr>
          <p:cNvSpPr txBox="1"/>
          <p:nvPr/>
        </p:nvSpPr>
        <p:spPr>
          <a:xfrm>
            <a:off x="1988014" y="5785033"/>
            <a:ext cx="4961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chemeClr val="bg2">
                    <a:lumMod val="75000"/>
                  </a:schemeClr>
                </a:solidFill>
              </a:rPr>
              <a:t>Thesenpapier Abbildung 19</a:t>
            </a:r>
          </a:p>
        </p:txBody>
      </p:sp>
    </p:spTree>
    <p:extLst>
      <p:ext uri="{BB962C8B-B14F-4D97-AF65-F5344CB8AC3E}">
        <p14:creationId xmlns:p14="http://schemas.microsoft.com/office/powerpoint/2010/main" val="4129634936"/>
      </p:ext>
    </p:extLst>
  </p:cSld>
  <p:clrMapOvr>
    <a:masterClrMapping/>
  </p:clrMapOvr>
  <p:transition spd="slow">
    <p:push dir="u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D0DE0D-EF02-B3A3-4682-99D908975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5" name="Rectangle 94">
            <a:extLst>
              <a:ext uri="{FF2B5EF4-FFF2-40B4-BE49-F238E27FC236}">
                <a16:creationId xmlns:a16="http://schemas.microsoft.com/office/drawing/2014/main" id="{119EF443-56D5-4727-271E-547494BB6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9D32EC4-A44B-23D4-397B-85B2FE16E8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35" y="639520"/>
            <a:ext cx="3751059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800" dirty="0"/>
              <a:t>5</a:t>
            </a:r>
            <a: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.2</a:t>
            </a:r>
            <a:b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Trainings </a:t>
            </a:r>
            <a:r>
              <a:rPr lang="en-US" sz="3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Prozess</a:t>
            </a:r>
            <a:endParaRPr lang="en-US" sz="38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7" name="sketch line">
            <a:extLst>
              <a:ext uri="{FF2B5EF4-FFF2-40B4-BE49-F238E27FC236}">
                <a16:creationId xmlns:a16="http://schemas.microsoft.com/office/drawing/2014/main" id="{DE981646-0CE0-563E-2343-F47DF490CD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0FE9779-4C2F-F7D7-6F0C-828691127F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936" y="2807208"/>
            <a:ext cx="7242404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200" dirty="0"/>
              <a:t>Training </a:t>
            </a:r>
            <a:r>
              <a:rPr lang="en-US" sz="2200" dirty="0" err="1"/>
              <a:t>läuft</a:t>
            </a:r>
            <a:r>
              <a:rPr lang="en-US" sz="2200" dirty="0"/>
              <a:t> in </a:t>
            </a:r>
            <a:r>
              <a:rPr lang="en-US" sz="2200" dirty="0" err="1"/>
              <a:t>Epochen</a:t>
            </a:r>
            <a:endParaRPr lang="en-US" sz="2200" dirty="0"/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200" dirty="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200" dirty="0" err="1"/>
              <a:t>Gesamte</a:t>
            </a:r>
            <a:r>
              <a:rPr lang="en-US" sz="2200" dirty="0"/>
              <a:t> </a:t>
            </a:r>
            <a:r>
              <a:rPr lang="en-US" sz="2200" dirty="0" err="1"/>
              <a:t>Liste</a:t>
            </a:r>
            <a:r>
              <a:rPr lang="en-US" sz="2200" dirty="0"/>
              <a:t> </a:t>
            </a:r>
            <a:r>
              <a:rPr lang="en-US" sz="2200" dirty="0" err="1"/>
              <a:t>trainieren</a:t>
            </a:r>
            <a:r>
              <a:rPr lang="en-US" sz="2200" dirty="0"/>
              <a:t> 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8D5D51D-742C-A537-0EF7-C94D418427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11.02.2024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A6F111C-873B-D02B-A396-9CDDC9E6A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Neuronale Netze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A3953FE-C692-9B29-11D0-C32348884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Mathis Grün</a:t>
            </a:r>
          </a:p>
        </p:txBody>
      </p:sp>
      <p:pic>
        <p:nvPicPr>
          <p:cNvPr id="8" name="Grafik 7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7275218D-6EE3-88A7-4867-32CFECCE33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2680" y="1188440"/>
            <a:ext cx="4481120" cy="4481120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D83BF349-85C8-19D6-A19F-2C3745F2268C}"/>
              </a:ext>
            </a:extLst>
          </p:cNvPr>
          <p:cNvSpPr txBox="1"/>
          <p:nvPr/>
        </p:nvSpPr>
        <p:spPr>
          <a:xfrm>
            <a:off x="6721182" y="5430045"/>
            <a:ext cx="4961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chemeClr val="bg2">
                    <a:lumMod val="75000"/>
                  </a:schemeClr>
                </a:solidFill>
              </a:rPr>
              <a:t>https://thenounproject.com/icon/false-negative-2985144/</a:t>
            </a:r>
          </a:p>
        </p:txBody>
      </p:sp>
      <p:pic>
        <p:nvPicPr>
          <p:cNvPr id="9" name="Grafik 8" descr="Ein Bild, das Entwurf, Kunst enthält.&#10;&#10;Automatisch generierte Beschreibung">
            <a:extLst>
              <a:ext uri="{FF2B5EF4-FFF2-40B4-BE49-F238E27FC236}">
                <a16:creationId xmlns:a16="http://schemas.microsoft.com/office/drawing/2014/main" id="{9BD85EC0-8060-8153-99B3-9E02B974F9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6185" y="0"/>
            <a:ext cx="1715815" cy="144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984720"/>
      </p:ext>
    </p:extLst>
  </p:cSld>
  <p:clrMapOvr>
    <a:masterClrMapping/>
  </p:clrMapOvr>
  <p:transition spd="slow">
    <p:push dir="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D8E397-805C-F5B2-839F-E7D4E6E8B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DA2E7C1E-2B5A-4BBA-AE51-1CD8C1930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6">
            <a:extLst>
              <a:ext uri="{FF2B5EF4-FFF2-40B4-BE49-F238E27FC236}">
                <a16:creationId xmlns:a16="http://schemas.microsoft.com/office/drawing/2014/main" id="{43DF76B1-5174-4FAF-9D19-FFEE98426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38200" y="720953"/>
            <a:ext cx="10515600" cy="5416094"/>
          </a:xfrm>
          <a:custGeom>
            <a:avLst/>
            <a:gdLst>
              <a:gd name="connsiteX0" fmla="*/ 0 w 10515600"/>
              <a:gd name="connsiteY0" fmla="*/ 0 h 5416094"/>
              <a:gd name="connsiteX1" fmla="*/ 552069 w 10515600"/>
              <a:gd name="connsiteY1" fmla="*/ 0 h 5416094"/>
              <a:gd name="connsiteX2" fmla="*/ 893826 w 10515600"/>
              <a:gd name="connsiteY2" fmla="*/ 0 h 5416094"/>
              <a:gd name="connsiteX3" fmla="*/ 1761363 w 10515600"/>
              <a:gd name="connsiteY3" fmla="*/ 0 h 5416094"/>
              <a:gd name="connsiteX4" fmla="*/ 2313432 w 10515600"/>
              <a:gd name="connsiteY4" fmla="*/ 0 h 5416094"/>
              <a:gd name="connsiteX5" fmla="*/ 2865501 w 10515600"/>
              <a:gd name="connsiteY5" fmla="*/ 0 h 5416094"/>
              <a:gd name="connsiteX6" fmla="*/ 3733038 w 10515600"/>
              <a:gd name="connsiteY6" fmla="*/ 0 h 5416094"/>
              <a:gd name="connsiteX7" fmla="*/ 4179951 w 10515600"/>
              <a:gd name="connsiteY7" fmla="*/ 0 h 5416094"/>
              <a:gd name="connsiteX8" fmla="*/ 5047488 w 10515600"/>
              <a:gd name="connsiteY8" fmla="*/ 0 h 5416094"/>
              <a:gd name="connsiteX9" fmla="*/ 5915025 w 10515600"/>
              <a:gd name="connsiteY9" fmla="*/ 0 h 5416094"/>
              <a:gd name="connsiteX10" fmla="*/ 6572250 w 10515600"/>
              <a:gd name="connsiteY10" fmla="*/ 0 h 5416094"/>
              <a:gd name="connsiteX11" fmla="*/ 7439787 w 10515600"/>
              <a:gd name="connsiteY11" fmla="*/ 0 h 5416094"/>
              <a:gd name="connsiteX12" fmla="*/ 7991856 w 10515600"/>
              <a:gd name="connsiteY12" fmla="*/ 0 h 5416094"/>
              <a:gd name="connsiteX13" fmla="*/ 8543925 w 10515600"/>
              <a:gd name="connsiteY13" fmla="*/ 0 h 5416094"/>
              <a:gd name="connsiteX14" fmla="*/ 9306306 w 10515600"/>
              <a:gd name="connsiteY14" fmla="*/ 0 h 5416094"/>
              <a:gd name="connsiteX15" fmla="*/ 9858375 w 10515600"/>
              <a:gd name="connsiteY15" fmla="*/ 0 h 5416094"/>
              <a:gd name="connsiteX16" fmla="*/ 10515600 w 10515600"/>
              <a:gd name="connsiteY16" fmla="*/ 0 h 5416094"/>
              <a:gd name="connsiteX17" fmla="*/ 10515600 w 10515600"/>
              <a:gd name="connsiteY17" fmla="*/ 785334 h 5416094"/>
              <a:gd name="connsiteX18" fmla="*/ 10515600 w 10515600"/>
              <a:gd name="connsiteY18" fmla="*/ 1516506 h 5416094"/>
              <a:gd name="connsiteX19" fmla="*/ 10515600 w 10515600"/>
              <a:gd name="connsiteY19" fmla="*/ 2247679 h 5416094"/>
              <a:gd name="connsiteX20" fmla="*/ 10515600 w 10515600"/>
              <a:gd name="connsiteY20" fmla="*/ 2762208 h 5416094"/>
              <a:gd name="connsiteX21" fmla="*/ 10515600 w 10515600"/>
              <a:gd name="connsiteY21" fmla="*/ 3330898 h 5416094"/>
              <a:gd name="connsiteX22" fmla="*/ 10515600 w 10515600"/>
              <a:gd name="connsiteY22" fmla="*/ 4062071 h 5416094"/>
              <a:gd name="connsiteX23" fmla="*/ 10515600 w 10515600"/>
              <a:gd name="connsiteY23" fmla="*/ 4684921 h 5416094"/>
              <a:gd name="connsiteX24" fmla="*/ 10515600 w 10515600"/>
              <a:gd name="connsiteY24" fmla="*/ 5416094 h 5416094"/>
              <a:gd name="connsiteX25" fmla="*/ 9753219 w 10515600"/>
              <a:gd name="connsiteY25" fmla="*/ 5416094 h 5416094"/>
              <a:gd name="connsiteX26" fmla="*/ 9411462 w 10515600"/>
              <a:gd name="connsiteY26" fmla="*/ 5416094 h 5416094"/>
              <a:gd name="connsiteX27" fmla="*/ 8754237 w 10515600"/>
              <a:gd name="connsiteY27" fmla="*/ 5416094 h 5416094"/>
              <a:gd name="connsiteX28" fmla="*/ 8307324 w 10515600"/>
              <a:gd name="connsiteY28" fmla="*/ 5416094 h 5416094"/>
              <a:gd name="connsiteX29" fmla="*/ 7544943 w 10515600"/>
              <a:gd name="connsiteY29" fmla="*/ 5416094 h 5416094"/>
              <a:gd name="connsiteX30" fmla="*/ 7098030 w 10515600"/>
              <a:gd name="connsiteY30" fmla="*/ 5416094 h 5416094"/>
              <a:gd name="connsiteX31" fmla="*/ 6335649 w 10515600"/>
              <a:gd name="connsiteY31" fmla="*/ 5416094 h 5416094"/>
              <a:gd name="connsiteX32" fmla="*/ 5993892 w 10515600"/>
              <a:gd name="connsiteY32" fmla="*/ 5416094 h 5416094"/>
              <a:gd name="connsiteX33" fmla="*/ 5231511 w 10515600"/>
              <a:gd name="connsiteY33" fmla="*/ 5416094 h 5416094"/>
              <a:gd name="connsiteX34" fmla="*/ 4784598 w 10515600"/>
              <a:gd name="connsiteY34" fmla="*/ 5416094 h 5416094"/>
              <a:gd name="connsiteX35" fmla="*/ 4442841 w 10515600"/>
              <a:gd name="connsiteY35" fmla="*/ 5416094 h 5416094"/>
              <a:gd name="connsiteX36" fmla="*/ 3995928 w 10515600"/>
              <a:gd name="connsiteY36" fmla="*/ 5416094 h 5416094"/>
              <a:gd name="connsiteX37" fmla="*/ 3233547 w 10515600"/>
              <a:gd name="connsiteY37" fmla="*/ 5416094 h 5416094"/>
              <a:gd name="connsiteX38" fmla="*/ 2786634 w 10515600"/>
              <a:gd name="connsiteY38" fmla="*/ 5416094 h 5416094"/>
              <a:gd name="connsiteX39" fmla="*/ 2444877 w 10515600"/>
              <a:gd name="connsiteY39" fmla="*/ 5416094 h 5416094"/>
              <a:gd name="connsiteX40" fmla="*/ 1997964 w 10515600"/>
              <a:gd name="connsiteY40" fmla="*/ 5416094 h 5416094"/>
              <a:gd name="connsiteX41" fmla="*/ 1445895 w 10515600"/>
              <a:gd name="connsiteY41" fmla="*/ 5416094 h 5416094"/>
              <a:gd name="connsiteX42" fmla="*/ 788670 w 10515600"/>
              <a:gd name="connsiteY42" fmla="*/ 5416094 h 5416094"/>
              <a:gd name="connsiteX43" fmla="*/ 0 w 10515600"/>
              <a:gd name="connsiteY43" fmla="*/ 5416094 h 5416094"/>
              <a:gd name="connsiteX44" fmla="*/ 0 w 10515600"/>
              <a:gd name="connsiteY44" fmla="*/ 4630760 h 5416094"/>
              <a:gd name="connsiteX45" fmla="*/ 0 w 10515600"/>
              <a:gd name="connsiteY45" fmla="*/ 3953749 h 5416094"/>
              <a:gd name="connsiteX46" fmla="*/ 0 w 10515600"/>
              <a:gd name="connsiteY46" fmla="*/ 3276737 h 5416094"/>
              <a:gd name="connsiteX47" fmla="*/ 0 w 10515600"/>
              <a:gd name="connsiteY47" fmla="*/ 2599725 h 5416094"/>
              <a:gd name="connsiteX48" fmla="*/ 0 w 10515600"/>
              <a:gd name="connsiteY48" fmla="*/ 1922713 h 5416094"/>
              <a:gd name="connsiteX49" fmla="*/ 0 w 10515600"/>
              <a:gd name="connsiteY49" fmla="*/ 1299863 h 5416094"/>
              <a:gd name="connsiteX50" fmla="*/ 0 w 10515600"/>
              <a:gd name="connsiteY50" fmla="*/ 0 h 5416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0515600" h="5416094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24919" y="196329"/>
                  <a:pt x="10549062" y="488432"/>
                  <a:pt x="10515600" y="785334"/>
                </a:cubicBezTo>
                <a:cubicBezTo>
                  <a:pt x="10482138" y="1082236"/>
                  <a:pt x="10536385" y="1323726"/>
                  <a:pt x="10515600" y="1516506"/>
                </a:cubicBezTo>
                <a:cubicBezTo>
                  <a:pt x="10494815" y="1709286"/>
                  <a:pt x="10546328" y="2097632"/>
                  <a:pt x="10515600" y="2247679"/>
                </a:cubicBezTo>
                <a:cubicBezTo>
                  <a:pt x="10484872" y="2397726"/>
                  <a:pt x="10491771" y="2577292"/>
                  <a:pt x="10515600" y="2762208"/>
                </a:cubicBezTo>
                <a:cubicBezTo>
                  <a:pt x="10539429" y="2947124"/>
                  <a:pt x="10511007" y="3105736"/>
                  <a:pt x="10515600" y="3330898"/>
                </a:cubicBezTo>
                <a:cubicBezTo>
                  <a:pt x="10520194" y="3556060"/>
                  <a:pt x="10497393" y="3882611"/>
                  <a:pt x="10515600" y="4062071"/>
                </a:cubicBezTo>
                <a:cubicBezTo>
                  <a:pt x="10533807" y="4241531"/>
                  <a:pt x="10544791" y="4505155"/>
                  <a:pt x="10515600" y="4684921"/>
                </a:cubicBezTo>
                <a:cubicBezTo>
                  <a:pt x="10486410" y="4864687"/>
                  <a:pt x="10497356" y="5246484"/>
                  <a:pt x="10515600" y="5416094"/>
                </a:cubicBezTo>
                <a:cubicBezTo>
                  <a:pt x="10245623" y="5445692"/>
                  <a:pt x="10029676" y="5415505"/>
                  <a:pt x="9753219" y="5416094"/>
                </a:cubicBezTo>
                <a:cubicBezTo>
                  <a:pt x="9476762" y="5416683"/>
                  <a:pt x="9553148" y="5422760"/>
                  <a:pt x="9411462" y="5416094"/>
                </a:cubicBezTo>
                <a:cubicBezTo>
                  <a:pt x="9269776" y="5409428"/>
                  <a:pt x="8927709" y="5385012"/>
                  <a:pt x="8754237" y="5416094"/>
                </a:cubicBezTo>
                <a:cubicBezTo>
                  <a:pt x="8580766" y="5447176"/>
                  <a:pt x="8413264" y="5410024"/>
                  <a:pt x="8307324" y="5416094"/>
                </a:cubicBezTo>
                <a:cubicBezTo>
                  <a:pt x="8201384" y="5422164"/>
                  <a:pt x="7912690" y="5421686"/>
                  <a:pt x="7544943" y="5416094"/>
                </a:cubicBezTo>
                <a:cubicBezTo>
                  <a:pt x="7177196" y="5410502"/>
                  <a:pt x="7304235" y="5418502"/>
                  <a:pt x="7098030" y="5416094"/>
                </a:cubicBezTo>
                <a:cubicBezTo>
                  <a:pt x="6891825" y="5413686"/>
                  <a:pt x="6541479" y="5434609"/>
                  <a:pt x="6335649" y="5416094"/>
                </a:cubicBezTo>
                <a:cubicBezTo>
                  <a:pt x="6129819" y="5397579"/>
                  <a:pt x="6106541" y="5402791"/>
                  <a:pt x="5993892" y="5416094"/>
                </a:cubicBezTo>
                <a:cubicBezTo>
                  <a:pt x="5881243" y="5429397"/>
                  <a:pt x="5545248" y="5437743"/>
                  <a:pt x="5231511" y="5416094"/>
                </a:cubicBezTo>
                <a:cubicBezTo>
                  <a:pt x="4917774" y="5394445"/>
                  <a:pt x="4963237" y="5426599"/>
                  <a:pt x="4784598" y="5416094"/>
                </a:cubicBezTo>
                <a:cubicBezTo>
                  <a:pt x="4605959" y="5405589"/>
                  <a:pt x="4605904" y="5406658"/>
                  <a:pt x="4442841" y="5416094"/>
                </a:cubicBezTo>
                <a:cubicBezTo>
                  <a:pt x="4279778" y="5425530"/>
                  <a:pt x="4177180" y="5426138"/>
                  <a:pt x="3995928" y="5416094"/>
                </a:cubicBezTo>
                <a:cubicBezTo>
                  <a:pt x="3814676" y="5406050"/>
                  <a:pt x="3516440" y="5429234"/>
                  <a:pt x="3233547" y="5416094"/>
                </a:cubicBezTo>
                <a:cubicBezTo>
                  <a:pt x="2950654" y="5402954"/>
                  <a:pt x="2884354" y="5436103"/>
                  <a:pt x="2786634" y="5416094"/>
                </a:cubicBezTo>
                <a:cubicBezTo>
                  <a:pt x="2688914" y="5396085"/>
                  <a:pt x="2522958" y="5423232"/>
                  <a:pt x="2444877" y="5416094"/>
                </a:cubicBezTo>
                <a:cubicBezTo>
                  <a:pt x="2366796" y="5408956"/>
                  <a:pt x="2104768" y="5395479"/>
                  <a:pt x="1997964" y="5416094"/>
                </a:cubicBezTo>
                <a:cubicBezTo>
                  <a:pt x="1891160" y="5436709"/>
                  <a:pt x="1573016" y="5412376"/>
                  <a:pt x="1445895" y="5416094"/>
                </a:cubicBezTo>
                <a:cubicBezTo>
                  <a:pt x="1318774" y="5419812"/>
                  <a:pt x="986443" y="5400529"/>
                  <a:pt x="788670" y="5416094"/>
                </a:cubicBezTo>
                <a:cubicBezTo>
                  <a:pt x="590897" y="5431659"/>
                  <a:pt x="363709" y="5381266"/>
                  <a:pt x="0" y="5416094"/>
                </a:cubicBezTo>
                <a:cubicBezTo>
                  <a:pt x="-22973" y="5218643"/>
                  <a:pt x="-26699" y="5010779"/>
                  <a:pt x="0" y="4630760"/>
                </a:cubicBezTo>
                <a:cubicBezTo>
                  <a:pt x="26699" y="4250741"/>
                  <a:pt x="-15389" y="4196664"/>
                  <a:pt x="0" y="3953749"/>
                </a:cubicBezTo>
                <a:cubicBezTo>
                  <a:pt x="15389" y="3710834"/>
                  <a:pt x="468" y="3611311"/>
                  <a:pt x="0" y="3276737"/>
                </a:cubicBezTo>
                <a:cubicBezTo>
                  <a:pt x="-468" y="2942163"/>
                  <a:pt x="15360" y="2781998"/>
                  <a:pt x="0" y="2599725"/>
                </a:cubicBezTo>
                <a:cubicBezTo>
                  <a:pt x="-15360" y="2417452"/>
                  <a:pt x="14816" y="2100232"/>
                  <a:pt x="0" y="1922713"/>
                </a:cubicBezTo>
                <a:cubicBezTo>
                  <a:pt x="-14816" y="1745194"/>
                  <a:pt x="-24648" y="1604167"/>
                  <a:pt x="0" y="1299863"/>
                </a:cubicBezTo>
                <a:cubicBezTo>
                  <a:pt x="24648" y="995559"/>
                  <a:pt x="2182" y="279525"/>
                  <a:pt x="0" y="0"/>
                </a:cubicBezTo>
                <a:close/>
              </a:path>
            </a:pathLst>
          </a:custGeom>
          <a:noFill/>
          <a:ln w="4762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D96A98C5-BC6A-DC91-902D-32B5EBCCE8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302659"/>
            <a:ext cx="10134600" cy="4192301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9D74325-240A-9146-41F2-EED82F057F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11.02.2024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328DB97-6CB2-F18C-54D5-B932A1F8E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Neuronale Netze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27AC4C-3031-605B-DAB7-212D9AB72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Mathis Grün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2AEE8AA3-8EB6-8B58-2631-32B9E8E34EFA}"/>
              </a:ext>
            </a:extLst>
          </p:cNvPr>
          <p:cNvSpPr txBox="1"/>
          <p:nvPr/>
        </p:nvSpPr>
        <p:spPr>
          <a:xfrm>
            <a:off x="990600" y="5555341"/>
            <a:ext cx="4961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kern="1200" dirty="0">
                <a:solidFill>
                  <a:srgbClr val="AEAEAE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Thesenpapier Abbildung 20</a:t>
            </a:r>
            <a:endParaRPr lang="de-DE" sz="110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6922956"/>
      </p:ext>
    </p:extLst>
  </p:cSld>
  <p:clrMapOvr>
    <a:masterClrMapping/>
  </p:clrMapOvr>
  <p:transition spd="slow">
    <p:push dir="u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1A7104-671A-1F4D-B18F-1CE706825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" name="Rectangle 101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A0239D5-9A11-1F61-A597-9F05B6CD31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35" y="639520"/>
            <a:ext cx="3929189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800" dirty="0"/>
              <a:t>5</a:t>
            </a:r>
            <a: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.2</a:t>
            </a:r>
            <a:b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Trainings </a:t>
            </a:r>
            <a:r>
              <a:rPr lang="en-US" sz="3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Prozess</a:t>
            </a:r>
            <a:endParaRPr lang="en-US" sz="38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4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FDF2A5A-9697-A773-C44A-5DF17C9286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936" y="2807208"/>
            <a:ext cx="4285448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200" dirty="0" err="1"/>
              <a:t>Testwerte</a:t>
            </a:r>
            <a:r>
              <a:rPr lang="en-US" sz="2200" dirty="0"/>
              <a:t> laden und </a:t>
            </a:r>
            <a:r>
              <a:rPr lang="en-US" sz="2200" dirty="0" err="1"/>
              <a:t>abfragen</a:t>
            </a:r>
            <a:endParaRPr lang="en-US" sz="2200" dirty="0"/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200" dirty="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200" dirty="0"/>
              <a:t>Scoreboard </a:t>
            </a:r>
            <a:r>
              <a:rPr lang="en-US" sz="2200" dirty="0" err="1"/>
              <a:t>einführen</a:t>
            </a:r>
            <a:r>
              <a:rPr lang="en-US" sz="2200" dirty="0"/>
              <a:t>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200" dirty="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200" dirty="0" err="1"/>
              <a:t>Leistung</a:t>
            </a:r>
            <a:r>
              <a:rPr lang="en-US" sz="2200" dirty="0"/>
              <a:t> des </a:t>
            </a:r>
            <a:r>
              <a:rPr lang="en-US" sz="2200" dirty="0" err="1"/>
              <a:t>Netzes</a:t>
            </a:r>
            <a:r>
              <a:rPr lang="en-US" sz="2200" dirty="0"/>
              <a:t> </a:t>
            </a:r>
            <a:r>
              <a:rPr lang="en-US" sz="2200" dirty="0" err="1"/>
              <a:t>erheben</a:t>
            </a:r>
            <a:endParaRPr lang="en-US" sz="2200" dirty="0"/>
          </a:p>
        </p:txBody>
      </p:sp>
      <p:pic>
        <p:nvPicPr>
          <p:cNvPr id="8" name="Grafik 7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4E3F2F74-0557-1DE6-9E66-BFE1753160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8017" y="639520"/>
            <a:ext cx="5577840" cy="5577840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E5FEF14-51DF-7A08-9A4C-45E227807B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11.02.2024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B3E9773-0EC0-6FB9-3163-B13293341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Neuronale Netze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F0C26C0-517F-3E38-6ECB-D015353FD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Mathis Grün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FE0720FA-2A1F-7034-C15C-D16F1FA4B5F5}"/>
              </a:ext>
            </a:extLst>
          </p:cNvPr>
          <p:cNvSpPr txBox="1"/>
          <p:nvPr/>
        </p:nvSpPr>
        <p:spPr>
          <a:xfrm>
            <a:off x="5780219" y="5767146"/>
            <a:ext cx="58534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chemeClr val="bg2">
                    <a:lumMod val="75000"/>
                  </a:schemeClr>
                </a:solidFill>
              </a:rPr>
              <a:t>https://thenounproject.com/icon/semi-supervised-ai-learning-2985148/</a:t>
            </a:r>
          </a:p>
        </p:txBody>
      </p:sp>
      <p:pic>
        <p:nvPicPr>
          <p:cNvPr id="9" name="Grafik 8" descr="Ein Bild, das Entwurf, Kunst enthält.&#10;&#10;Automatisch generierte Beschreibung">
            <a:extLst>
              <a:ext uri="{FF2B5EF4-FFF2-40B4-BE49-F238E27FC236}">
                <a16:creationId xmlns:a16="http://schemas.microsoft.com/office/drawing/2014/main" id="{362D4AD6-76D2-9992-AF8A-E146A71B74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6185" y="0"/>
            <a:ext cx="1715815" cy="144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042270"/>
      </p:ext>
    </p:extLst>
  </p:cSld>
  <p:clrMapOvr>
    <a:masterClrMapping/>
  </p:clrMapOvr>
  <p:transition spd="slow">
    <p:push dir="u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4B2063-15DD-176D-45F4-B81CD556F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DA2E7C1E-2B5A-4BBA-AE51-1CD8C1930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6">
            <a:extLst>
              <a:ext uri="{FF2B5EF4-FFF2-40B4-BE49-F238E27FC236}">
                <a16:creationId xmlns:a16="http://schemas.microsoft.com/office/drawing/2014/main" id="{43DF76B1-5174-4FAF-9D19-FFEE98426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38200" y="720953"/>
            <a:ext cx="10515600" cy="5416094"/>
          </a:xfrm>
          <a:custGeom>
            <a:avLst/>
            <a:gdLst>
              <a:gd name="connsiteX0" fmla="*/ 0 w 10515600"/>
              <a:gd name="connsiteY0" fmla="*/ 0 h 5416094"/>
              <a:gd name="connsiteX1" fmla="*/ 552069 w 10515600"/>
              <a:gd name="connsiteY1" fmla="*/ 0 h 5416094"/>
              <a:gd name="connsiteX2" fmla="*/ 893826 w 10515600"/>
              <a:gd name="connsiteY2" fmla="*/ 0 h 5416094"/>
              <a:gd name="connsiteX3" fmla="*/ 1761363 w 10515600"/>
              <a:gd name="connsiteY3" fmla="*/ 0 h 5416094"/>
              <a:gd name="connsiteX4" fmla="*/ 2313432 w 10515600"/>
              <a:gd name="connsiteY4" fmla="*/ 0 h 5416094"/>
              <a:gd name="connsiteX5" fmla="*/ 2865501 w 10515600"/>
              <a:gd name="connsiteY5" fmla="*/ 0 h 5416094"/>
              <a:gd name="connsiteX6" fmla="*/ 3733038 w 10515600"/>
              <a:gd name="connsiteY6" fmla="*/ 0 h 5416094"/>
              <a:gd name="connsiteX7" fmla="*/ 4179951 w 10515600"/>
              <a:gd name="connsiteY7" fmla="*/ 0 h 5416094"/>
              <a:gd name="connsiteX8" fmla="*/ 5047488 w 10515600"/>
              <a:gd name="connsiteY8" fmla="*/ 0 h 5416094"/>
              <a:gd name="connsiteX9" fmla="*/ 5915025 w 10515600"/>
              <a:gd name="connsiteY9" fmla="*/ 0 h 5416094"/>
              <a:gd name="connsiteX10" fmla="*/ 6572250 w 10515600"/>
              <a:gd name="connsiteY10" fmla="*/ 0 h 5416094"/>
              <a:gd name="connsiteX11" fmla="*/ 7439787 w 10515600"/>
              <a:gd name="connsiteY11" fmla="*/ 0 h 5416094"/>
              <a:gd name="connsiteX12" fmla="*/ 7991856 w 10515600"/>
              <a:gd name="connsiteY12" fmla="*/ 0 h 5416094"/>
              <a:gd name="connsiteX13" fmla="*/ 8543925 w 10515600"/>
              <a:gd name="connsiteY13" fmla="*/ 0 h 5416094"/>
              <a:gd name="connsiteX14" fmla="*/ 9306306 w 10515600"/>
              <a:gd name="connsiteY14" fmla="*/ 0 h 5416094"/>
              <a:gd name="connsiteX15" fmla="*/ 9858375 w 10515600"/>
              <a:gd name="connsiteY15" fmla="*/ 0 h 5416094"/>
              <a:gd name="connsiteX16" fmla="*/ 10515600 w 10515600"/>
              <a:gd name="connsiteY16" fmla="*/ 0 h 5416094"/>
              <a:gd name="connsiteX17" fmla="*/ 10515600 w 10515600"/>
              <a:gd name="connsiteY17" fmla="*/ 785334 h 5416094"/>
              <a:gd name="connsiteX18" fmla="*/ 10515600 w 10515600"/>
              <a:gd name="connsiteY18" fmla="*/ 1516506 h 5416094"/>
              <a:gd name="connsiteX19" fmla="*/ 10515600 w 10515600"/>
              <a:gd name="connsiteY19" fmla="*/ 2247679 h 5416094"/>
              <a:gd name="connsiteX20" fmla="*/ 10515600 w 10515600"/>
              <a:gd name="connsiteY20" fmla="*/ 2762208 h 5416094"/>
              <a:gd name="connsiteX21" fmla="*/ 10515600 w 10515600"/>
              <a:gd name="connsiteY21" fmla="*/ 3330898 h 5416094"/>
              <a:gd name="connsiteX22" fmla="*/ 10515600 w 10515600"/>
              <a:gd name="connsiteY22" fmla="*/ 4062071 h 5416094"/>
              <a:gd name="connsiteX23" fmla="*/ 10515600 w 10515600"/>
              <a:gd name="connsiteY23" fmla="*/ 4684921 h 5416094"/>
              <a:gd name="connsiteX24" fmla="*/ 10515600 w 10515600"/>
              <a:gd name="connsiteY24" fmla="*/ 5416094 h 5416094"/>
              <a:gd name="connsiteX25" fmla="*/ 9753219 w 10515600"/>
              <a:gd name="connsiteY25" fmla="*/ 5416094 h 5416094"/>
              <a:gd name="connsiteX26" fmla="*/ 9411462 w 10515600"/>
              <a:gd name="connsiteY26" fmla="*/ 5416094 h 5416094"/>
              <a:gd name="connsiteX27" fmla="*/ 8754237 w 10515600"/>
              <a:gd name="connsiteY27" fmla="*/ 5416094 h 5416094"/>
              <a:gd name="connsiteX28" fmla="*/ 8307324 w 10515600"/>
              <a:gd name="connsiteY28" fmla="*/ 5416094 h 5416094"/>
              <a:gd name="connsiteX29" fmla="*/ 7544943 w 10515600"/>
              <a:gd name="connsiteY29" fmla="*/ 5416094 h 5416094"/>
              <a:gd name="connsiteX30" fmla="*/ 7098030 w 10515600"/>
              <a:gd name="connsiteY30" fmla="*/ 5416094 h 5416094"/>
              <a:gd name="connsiteX31" fmla="*/ 6335649 w 10515600"/>
              <a:gd name="connsiteY31" fmla="*/ 5416094 h 5416094"/>
              <a:gd name="connsiteX32" fmla="*/ 5993892 w 10515600"/>
              <a:gd name="connsiteY32" fmla="*/ 5416094 h 5416094"/>
              <a:gd name="connsiteX33" fmla="*/ 5231511 w 10515600"/>
              <a:gd name="connsiteY33" fmla="*/ 5416094 h 5416094"/>
              <a:gd name="connsiteX34" fmla="*/ 4784598 w 10515600"/>
              <a:gd name="connsiteY34" fmla="*/ 5416094 h 5416094"/>
              <a:gd name="connsiteX35" fmla="*/ 4442841 w 10515600"/>
              <a:gd name="connsiteY35" fmla="*/ 5416094 h 5416094"/>
              <a:gd name="connsiteX36" fmla="*/ 3995928 w 10515600"/>
              <a:gd name="connsiteY36" fmla="*/ 5416094 h 5416094"/>
              <a:gd name="connsiteX37" fmla="*/ 3233547 w 10515600"/>
              <a:gd name="connsiteY37" fmla="*/ 5416094 h 5416094"/>
              <a:gd name="connsiteX38" fmla="*/ 2786634 w 10515600"/>
              <a:gd name="connsiteY38" fmla="*/ 5416094 h 5416094"/>
              <a:gd name="connsiteX39" fmla="*/ 2444877 w 10515600"/>
              <a:gd name="connsiteY39" fmla="*/ 5416094 h 5416094"/>
              <a:gd name="connsiteX40" fmla="*/ 1997964 w 10515600"/>
              <a:gd name="connsiteY40" fmla="*/ 5416094 h 5416094"/>
              <a:gd name="connsiteX41" fmla="*/ 1445895 w 10515600"/>
              <a:gd name="connsiteY41" fmla="*/ 5416094 h 5416094"/>
              <a:gd name="connsiteX42" fmla="*/ 788670 w 10515600"/>
              <a:gd name="connsiteY42" fmla="*/ 5416094 h 5416094"/>
              <a:gd name="connsiteX43" fmla="*/ 0 w 10515600"/>
              <a:gd name="connsiteY43" fmla="*/ 5416094 h 5416094"/>
              <a:gd name="connsiteX44" fmla="*/ 0 w 10515600"/>
              <a:gd name="connsiteY44" fmla="*/ 4630760 h 5416094"/>
              <a:gd name="connsiteX45" fmla="*/ 0 w 10515600"/>
              <a:gd name="connsiteY45" fmla="*/ 3953749 h 5416094"/>
              <a:gd name="connsiteX46" fmla="*/ 0 w 10515600"/>
              <a:gd name="connsiteY46" fmla="*/ 3276737 h 5416094"/>
              <a:gd name="connsiteX47" fmla="*/ 0 w 10515600"/>
              <a:gd name="connsiteY47" fmla="*/ 2599725 h 5416094"/>
              <a:gd name="connsiteX48" fmla="*/ 0 w 10515600"/>
              <a:gd name="connsiteY48" fmla="*/ 1922713 h 5416094"/>
              <a:gd name="connsiteX49" fmla="*/ 0 w 10515600"/>
              <a:gd name="connsiteY49" fmla="*/ 1299863 h 5416094"/>
              <a:gd name="connsiteX50" fmla="*/ 0 w 10515600"/>
              <a:gd name="connsiteY50" fmla="*/ 0 h 5416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0515600" h="5416094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24919" y="196329"/>
                  <a:pt x="10549062" y="488432"/>
                  <a:pt x="10515600" y="785334"/>
                </a:cubicBezTo>
                <a:cubicBezTo>
                  <a:pt x="10482138" y="1082236"/>
                  <a:pt x="10536385" y="1323726"/>
                  <a:pt x="10515600" y="1516506"/>
                </a:cubicBezTo>
                <a:cubicBezTo>
                  <a:pt x="10494815" y="1709286"/>
                  <a:pt x="10546328" y="2097632"/>
                  <a:pt x="10515600" y="2247679"/>
                </a:cubicBezTo>
                <a:cubicBezTo>
                  <a:pt x="10484872" y="2397726"/>
                  <a:pt x="10491771" y="2577292"/>
                  <a:pt x="10515600" y="2762208"/>
                </a:cubicBezTo>
                <a:cubicBezTo>
                  <a:pt x="10539429" y="2947124"/>
                  <a:pt x="10511007" y="3105736"/>
                  <a:pt x="10515600" y="3330898"/>
                </a:cubicBezTo>
                <a:cubicBezTo>
                  <a:pt x="10520194" y="3556060"/>
                  <a:pt x="10497393" y="3882611"/>
                  <a:pt x="10515600" y="4062071"/>
                </a:cubicBezTo>
                <a:cubicBezTo>
                  <a:pt x="10533807" y="4241531"/>
                  <a:pt x="10544791" y="4505155"/>
                  <a:pt x="10515600" y="4684921"/>
                </a:cubicBezTo>
                <a:cubicBezTo>
                  <a:pt x="10486410" y="4864687"/>
                  <a:pt x="10497356" y="5246484"/>
                  <a:pt x="10515600" y="5416094"/>
                </a:cubicBezTo>
                <a:cubicBezTo>
                  <a:pt x="10245623" y="5445692"/>
                  <a:pt x="10029676" y="5415505"/>
                  <a:pt x="9753219" y="5416094"/>
                </a:cubicBezTo>
                <a:cubicBezTo>
                  <a:pt x="9476762" y="5416683"/>
                  <a:pt x="9553148" y="5422760"/>
                  <a:pt x="9411462" y="5416094"/>
                </a:cubicBezTo>
                <a:cubicBezTo>
                  <a:pt x="9269776" y="5409428"/>
                  <a:pt x="8927709" y="5385012"/>
                  <a:pt x="8754237" y="5416094"/>
                </a:cubicBezTo>
                <a:cubicBezTo>
                  <a:pt x="8580766" y="5447176"/>
                  <a:pt x="8413264" y="5410024"/>
                  <a:pt x="8307324" y="5416094"/>
                </a:cubicBezTo>
                <a:cubicBezTo>
                  <a:pt x="8201384" y="5422164"/>
                  <a:pt x="7912690" y="5421686"/>
                  <a:pt x="7544943" y="5416094"/>
                </a:cubicBezTo>
                <a:cubicBezTo>
                  <a:pt x="7177196" y="5410502"/>
                  <a:pt x="7304235" y="5418502"/>
                  <a:pt x="7098030" y="5416094"/>
                </a:cubicBezTo>
                <a:cubicBezTo>
                  <a:pt x="6891825" y="5413686"/>
                  <a:pt x="6541479" y="5434609"/>
                  <a:pt x="6335649" y="5416094"/>
                </a:cubicBezTo>
                <a:cubicBezTo>
                  <a:pt x="6129819" y="5397579"/>
                  <a:pt x="6106541" y="5402791"/>
                  <a:pt x="5993892" y="5416094"/>
                </a:cubicBezTo>
                <a:cubicBezTo>
                  <a:pt x="5881243" y="5429397"/>
                  <a:pt x="5545248" y="5437743"/>
                  <a:pt x="5231511" y="5416094"/>
                </a:cubicBezTo>
                <a:cubicBezTo>
                  <a:pt x="4917774" y="5394445"/>
                  <a:pt x="4963237" y="5426599"/>
                  <a:pt x="4784598" y="5416094"/>
                </a:cubicBezTo>
                <a:cubicBezTo>
                  <a:pt x="4605959" y="5405589"/>
                  <a:pt x="4605904" y="5406658"/>
                  <a:pt x="4442841" y="5416094"/>
                </a:cubicBezTo>
                <a:cubicBezTo>
                  <a:pt x="4279778" y="5425530"/>
                  <a:pt x="4177180" y="5426138"/>
                  <a:pt x="3995928" y="5416094"/>
                </a:cubicBezTo>
                <a:cubicBezTo>
                  <a:pt x="3814676" y="5406050"/>
                  <a:pt x="3516440" y="5429234"/>
                  <a:pt x="3233547" y="5416094"/>
                </a:cubicBezTo>
                <a:cubicBezTo>
                  <a:pt x="2950654" y="5402954"/>
                  <a:pt x="2884354" y="5436103"/>
                  <a:pt x="2786634" y="5416094"/>
                </a:cubicBezTo>
                <a:cubicBezTo>
                  <a:pt x="2688914" y="5396085"/>
                  <a:pt x="2522958" y="5423232"/>
                  <a:pt x="2444877" y="5416094"/>
                </a:cubicBezTo>
                <a:cubicBezTo>
                  <a:pt x="2366796" y="5408956"/>
                  <a:pt x="2104768" y="5395479"/>
                  <a:pt x="1997964" y="5416094"/>
                </a:cubicBezTo>
                <a:cubicBezTo>
                  <a:pt x="1891160" y="5436709"/>
                  <a:pt x="1573016" y="5412376"/>
                  <a:pt x="1445895" y="5416094"/>
                </a:cubicBezTo>
                <a:cubicBezTo>
                  <a:pt x="1318774" y="5419812"/>
                  <a:pt x="986443" y="5400529"/>
                  <a:pt x="788670" y="5416094"/>
                </a:cubicBezTo>
                <a:cubicBezTo>
                  <a:pt x="590897" y="5431659"/>
                  <a:pt x="363709" y="5381266"/>
                  <a:pt x="0" y="5416094"/>
                </a:cubicBezTo>
                <a:cubicBezTo>
                  <a:pt x="-22973" y="5218643"/>
                  <a:pt x="-26699" y="5010779"/>
                  <a:pt x="0" y="4630760"/>
                </a:cubicBezTo>
                <a:cubicBezTo>
                  <a:pt x="26699" y="4250741"/>
                  <a:pt x="-15389" y="4196664"/>
                  <a:pt x="0" y="3953749"/>
                </a:cubicBezTo>
                <a:cubicBezTo>
                  <a:pt x="15389" y="3710834"/>
                  <a:pt x="468" y="3611311"/>
                  <a:pt x="0" y="3276737"/>
                </a:cubicBezTo>
                <a:cubicBezTo>
                  <a:pt x="-468" y="2942163"/>
                  <a:pt x="15360" y="2781998"/>
                  <a:pt x="0" y="2599725"/>
                </a:cubicBezTo>
                <a:cubicBezTo>
                  <a:pt x="-15360" y="2417452"/>
                  <a:pt x="14816" y="2100232"/>
                  <a:pt x="0" y="1922713"/>
                </a:cubicBezTo>
                <a:cubicBezTo>
                  <a:pt x="-14816" y="1745194"/>
                  <a:pt x="-24648" y="1604167"/>
                  <a:pt x="0" y="1299863"/>
                </a:cubicBezTo>
                <a:cubicBezTo>
                  <a:pt x="24648" y="995559"/>
                  <a:pt x="2182" y="279525"/>
                  <a:pt x="0" y="0"/>
                </a:cubicBezTo>
                <a:close/>
              </a:path>
            </a:pathLst>
          </a:custGeom>
          <a:noFill/>
          <a:ln w="4762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D82F00B-615B-804A-78B3-3281615786C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11.02.2024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A04512E-3D50-49EA-F5C3-AA06F7227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Neuronale Netze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5C4CEA4-1F61-E4BE-6A0D-63DDB713F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Mathis Grün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5339C1A2-9540-39CE-6B90-71D7D25A70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5312" y="841523"/>
            <a:ext cx="8078327" cy="5039428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A7953830-FC8E-AA8E-FDB5-CB93EAC460F6}"/>
              </a:ext>
            </a:extLst>
          </p:cNvPr>
          <p:cNvSpPr txBox="1"/>
          <p:nvPr/>
        </p:nvSpPr>
        <p:spPr>
          <a:xfrm>
            <a:off x="2055312" y="5829270"/>
            <a:ext cx="4961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kern="1200" dirty="0">
                <a:solidFill>
                  <a:srgbClr val="AEAEAE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Thesenpapier Abbildung 21</a:t>
            </a:r>
            <a:endParaRPr lang="de-DE" sz="140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0228373"/>
      </p:ext>
    </p:extLst>
  </p:cSld>
  <p:clrMapOvr>
    <a:masterClrMapping/>
  </p:clrMapOvr>
  <p:transition spd="slow">
    <p:push dir="u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CCE68D-EE43-6865-3021-25511F9C4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" name="Rectangle 101">
            <a:extLst>
              <a:ext uri="{FF2B5EF4-FFF2-40B4-BE49-F238E27FC236}">
                <a16:creationId xmlns:a16="http://schemas.microsoft.com/office/drawing/2014/main" id="{D32E1B60-BBD9-9218-B510-EF2D7A91A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E7CA790-EABE-DFFC-327B-0F6E5E7B7A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35" y="639520"/>
            <a:ext cx="3929189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800" dirty="0"/>
              <a:t>5</a:t>
            </a:r>
            <a: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.2</a:t>
            </a:r>
            <a:b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Trainings </a:t>
            </a:r>
            <a:r>
              <a:rPr lang="en-US" sz="3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Prozess</a:t>
            </a:r>
            <a:endParaRPr lang="en-US" sz="38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4" name="sketch line">
            <a:extLst>
              <a:ext uri="{FF2B5EF4-FFF2-40B4-BE49-F238E27FC236}">
                <a16:creationId xmlns:a16="http://schemas.microsoft.com/office/drawing/2014/main" id="{C5DF2159-5540-0975-22BA-49C93C048B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D028833-208E-F3BB-16D9-7368CD5B9A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11.02.2024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CB0ADD-97FA-20B4-01E8-72A4B12C9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Neuronale Netze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DAA8E9E-6934-99CE-4AD3-FBFBA5C97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Mathis Grün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378F0B67-CDBC-D8A4-BAF0-E4211E6FBE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1059" y="109160"/>
            <a:ext cx="4508665" cy="5807771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0A6002DD-62EC-BA9E-07E1-4E7D340F0EBE}"/>
              </a:ext>
            </a:extLst>
          </p:cNvPr>
          <p:cNvSpPr txBox="1"/>
          <p:nvPr/>
        </p:nvSpPr>
        <p:spPr>
          <a:xfrm>
            <a:off x="5191059" y="5982752"/>
            <a:ext cx="4961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kern="1200" dirty="0">
                <a:solidFill>
                  <a:srgbClr val="AEAEAE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Thesenpapier Abbildung 22</a:t>
            </a:r>
            <a:endParaRPr lang="de-DE" sz="140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9294005"/>
      </p:ext>
    </p:extLst>
  </p:cSld>
  <p:clrMapOvr>
    <a:masterClrMapping/>
  </p:clrMapOvr>
  <p:transition spd="slow">
    <p:push dir="u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854695-0F34-C73B-3798-FE33F43E5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6FD8E34F-C5B2-5C0F-65CB-A0B2940756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729FB96-F32F-DF55-D2A1-1381335CC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6. Evaluation</a:t>
            </a:r>
          </a:p>
        </p:txBody>
      </p:sp>
      <p:sp>
        <p:nvSpPr>
          <p:cNvPr id="39" name="sketchy line">
            <a:extLst>
              <a:ext uri="{FF2B5EF4-FFF2-40B4-BE49-F238E27FC236}">
                <a16:creationId xmlns:a16="http://schemas.microsoft.com/office/drawing/2014/main" id="{01FE89A6-8794-551B-C188-D23BF7837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53E3057-96D8-5215-5689-A79E258B20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2493" y="2071316"/>
            <a:ext cx="6713552" cy="411917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228600">
              <a:buFont typeface="Arial" panose="020B0604020202020204" pitchFamily="34" charset="0"/>
              <a:buChar char="•"/>
            </a:pPr>
            <a:r>
              <a:rPr lang="en-US" sz="2200" dirty="0" err="1"/>
              <a:t>Gängige</a:t>
            </a:r>
            <a:r>
              <a:rPr lang="en-US" sz="2200" dirty="0"/>
              <a:t> </a:t>
            </a:r>
            <a:r>
              <a:rPr lang="en-US" sz="2200" dirty="0" err="1"/>
              <a:t>Parametern</a:t>
            </a:r>
            <a:endParaRPr lang="en-US" sz="2200" dirty="0"/>
          </a:p>
          <a:p>
            <a:pPr marL="457200" indent="-2286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457200" indent="-228600">
              <a:buFont typeface="Arial" panose="020B0604020202020204" pitchFamily="34" charset="0"/>
              <a:buChar char="•"/>
            </a:pPr>
            <a:r>
              <a:rPr lang="en-US" sz="2200" dirty="0" err="1"/>
              <a:t>Unterschiedliche</a:t>
            </a:r>
            <a:r>
              <a:rPr lang="en-US" sz="2200" dirty="0"/>
              <a:t> Parameter</a:t>
            </a:r>
          </a:p>
          <a:p>
            <a:pPr marL="457200" indent="-2286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457200" indent="-228600">
              <a:buFont typeface="Arial" panose="020B0604020202020204" pitchFamily="34" charset="0"/>
              <a:buChar char="•"/>
            </a:pPr>
            <a:r>
              <a:rPr lang="en-US" sz="2200" dirty="0"/>
              <a:t>Generalization und </a:t>
            </a:r>
            <a:r>
              <a:rPr lang="en-US" sz="2200" dirty="0" err="1"/>
              <a:t>Orkham’s</a:t>
            </a:r>
            <a:r>
              <a:rPr lang="en-US" sz="2200" dirty="0"/>
              <a:t> razor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82A3749-924A-7985-C11E-77ABC31E6E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11.02.2024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430DD28-4F01-664F-5B5B-E86CDC162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kern="120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t>Neuronale Netze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0C80B12-9D0B-D01B-C0CF-53C9C09C7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Mathis Grün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4165F798-F42A-82E8-B4FE-1365055A0051}"/>
              </a:ext>
            </a:extLst>
          </p:cNvPr>
          <p:cNvSpPr txBox="1"/>
          <p:nvPr/>
        </p:nvSpPr>
        <p:spPr>
          <a:xfrm>
            <a:off x="6629952" y="5856500"/>
            <a:ext cx="4961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chemeClr val="bg2">
                    <a:lumMod val="75000"/>
                  </a:schemeClr>
                </a:solidFill>
              </a:rPr>
              <a:t>https://thenounproject.com/icon/evaluation-6589362/</a:t>
            </a:r>
          </a:p>
        </p:txBody>
      </p:sp>
      <p:pic>
        <p:nvPicPr>
          <p:cNvPr id="10" name="Grafik 9" descr="Ein Bild, das Kreis, Screenshot, Design enthält.&#10;&#10;Automatisch generierte Beschreibung">
            <a:extLst>
              <a:ext uri="{FF2B5EF4-FFF2-40B4-BE49-F238E27FC236}">
                <a16:creationId xmlns:a16="http://schemas.microsoft.com/office/drawing/2014/main" id="{E4594D7F-E277-FA6B-0570-F5A1CA4E31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9914" y="2085231"/>
            <a:ext cx="4683886" cy="3886975"/>
          </a:xfrm>
          <a:prstGeom prst="rect">
            <a:avLst/>
          </a:prstGeom>
        </p:spPr>
      </p:pic>
      <p:pic>
        <p:nvPicPr>
          <p:cNvPr id="11" name="Grafik 10" descr="Ein Bild, das Entwurf, Kunst enthält.&#10;&#10;Automatisch generierte Beschreibung">
            <a:extLst>
              <a:ext uri="{FF2B5EF4-FFF2-40B4-BE49-F238E27FC236}">
                <a16:creationId xmlns:a16="http://schemas.microsoft.com/office/drawing/2014/main" id="{3FFD7115-C5E0-4B01-FBA4-A4F9E1337C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6185" y="0"/>
            <a:ext cx="1715815" cy="144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811776"/>
      </p:ext>
    </p:extLst>
  </p:cSld>
  <p:clrMapOvr>
    <a:masterClrMapping/>
  </p:clrMapOvr>
  <p:transition spd="slow">
    <p:push dir="u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D1800E-D7F9-8950-230F-F0D756E7F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" name="Rectangle 101">
            <a:extLst>
              <a:ext uri="{FF2B5EF4-FFF2-40B4-BE49-F238E27FC236}">
                <a16:creationId xmlns:a16="http://schemas.microsoft.com/office/drawing/2014/main" id="{E4B17407-F902-1222-FE2B-566B73E4FD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4F03A53-E096-659F-0F1C-843AD3CF9E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35" y="639520"/>
            <a:ext cx="41148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6.1</a:t>
            </a:r>
            <a:b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3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Gängige</a:t>
            </a:r>
            <a: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Parameter</a:t>
            </a:r>
          </a:p>
        </p:txBody>
      </p:sp>
      <p:sp>
        <p:nvSpPr>
          <p:cNvPr id="104" name="sketch line">
            <a:extLst>
              <a:ext uri="{FF2B5EF4-FFF2-40B4-BE49-F238E27FC236}">
                <a16:creationId xmlns:a16="http://schemas.microsoft.com/office/drawing/2014/main" id="{9EAAE11F-D06A-A462-D9B9-85B458B97C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CF08F31-10BD-0373-0BE7-489B21E5E4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11.02.2024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CDF7D26-4259-69AF-A2FA-1548599D2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Neuronale Netze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231B5C1-0338-FF50-E04B-E607F3F16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Mathis Grün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EB3690B-A50B-54D1-93F7-07F46144A0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936" y="2807208"/>
            <a:ext cx="4743952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200" dirty="0"/>
              <a:t>Learning rate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200" dirty="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200" dirty="0"/>
              <a:t>epochs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200" dirty="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200" dirty="0"/>
              <a:t>hidden nodes</a:t>
            </a:r>
          </a:p>
          <a:p>
            <a:pPr algn="l"/>
            <a:endParaRPr lang="en-US" sz="2200" dirty="0"/>
          </a:p>
          <a:p>
            <a:pPr algn="l"/>
            <a:endParaRPr lang="en-US" sz="2200" dirty="0"/>
          </a:p>
        </p:txBody>
      </p:sp>
      <p:pic>
        <p:nvPicPr>
          <p:cNvPr id="9" name="Grafik 8" descr="Ein Bild, das Gerät, Küchengerät, Kreis enthält.&#10;&#10;Automatisch generierte Beschreibung">
            <a:extLst>
              <a:ext uri="{FF2B5EF4-FFF2-40B4-BE49-F238E27FC236}">
                <a16:creationId xmlns:a16="http://schemas.microsoft.com/office/drawing/2014/main" id="{674EA257-6D40-0370-9176-456C4BF8B1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259" y="136525"/>
            <a:ext cx="3960266" cy="5577840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FE385C8D-38F6-FEC0-899B-97AEA76617D5}"/>
              </a:ext>
            </a:extLst>
          </p:cNvPr>
          <p:cNvSpPr txBox="1"/>
          <p:nvPr/>
        </p:nvSpPr>
        <p:spPr>
          <a:xfrm>
            <a:off x="6392739" y="5820872"/>
            <a:ext cx="4961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chemeClr val="bg2">
                    <a:lumMod val="75000"/>
                  </a:schemeClr>
                </a:solidFill>
              </a:rPr>
              <a:t>https://thenounproject.com/icon/evaluation-4578633/</a:t>
            </a:r>
          </a:p>
        </p:txBody>
      </p:sp>
      <p:pic>
        <p:nvPicPr>
          <p:cNvPr id="11" name="Grafik 10" descr="Ein Bild, das Entwurf, Kunst enthält.&#10;&#10;Automatisch generierte Beschreibung">
            <a:extLst>
              <a:ext uri="{FF2B5EF4-FFF2-40B4-BE49-F238E27FC236}">
                <a16:creationId xmlns:a16="http://schemas.microsoft.com/office/drawing/2014/main" id="{6B497F50-44D4-1486-E133-2B6C66070E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6185" y="0"/>
            <a:ext cx="1715815" cy="144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597431"/>
      </p:ext>
    </p:extLst>
  </p:cSld>
  <p:clrMapOvr>
    <a:masterClrMapping/>
  </p:clrMapOvr>
  <p:transition spd="slow">
    <p:push dir="u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6CB700-65F2-0E9E-DAAD-D4ACB77AD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" name="Rectangle 101">
            <a:extLst>
              <a:ext uri="{FF2B5EF4-FFF2-40B4-BE49-F238E27FC236}">
                <a16:creationId xmlns:a16="http://schemas.microsoft.com/office/drawing/2014/main" id="{2174B872-E4EC-4E43-6FE2-8693BE915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CE7AE75-FCEB-5CE2-19A2-601E1920A1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34" y="639520"/>
            <a:ext cx="5110109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6.1.1</a:t>
            </a:r>
            <a:b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3800" dirty="0"/>
              <a:t>Learning rate und epochs</a:t>
            </a:r>
            <a:endParaRPr lang="en-US" sz="38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4" name="sketch line">
            <a:extLst>
              <a:ext uri="{FF2B5EF4-FFF2-40B4-BE49-F238E27FC236}">
                <a16:creationId xmlns:a16="http://schemas.microsoft.com/office/drawing/2014/main" id="{925A781C-64E0-7889-BA28-8C277C59E3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21F1249-96A7-7C01-EBE2-438E0D5EA5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11.02.2024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7F39076-5FA1-F65A-2054-0655DEEF0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Neuronale Netze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BD4F59E-FA15-1914-1E83-680F8893C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Mathis Grün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6175D06-186A-9244-749A-2BC054A537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936" y="2807208"/>
            <a:ext cx="4743952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 err="1"/>
              <a:t>Opitmale</a:t>
            </a:r>
            <a:r>
              <a:rPr lang="en-US" sz="2200" dirty="0"/>
              <a:t> learning rate: 0.1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 err="1"/>
              <a:t>Optimale</a:t>
            </a:r>
            <a:r>
              <a:rPr lang="en-US" sz="2200" dirty="0"/>
              <a:t> epochs: 6 ,9 und 11?</a:t>
            </a:r>
          </a:p>
          <a:p>
            <a:pPr algn="l"/>
            <a:endParaRPr lang="en-US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5009E835-EDE7-311D-6A0D-B6186430D9CB}"/>
                  </a:ext>
                </a:extLst>
              </p:cNvPr>
              <p:cNvSpPr txBox="1"/>
              <p:nvPr/>
            </p:nvSpPr>
            <p:spPr>
              <a:xfrm>
                <a:off x="7073473" y="2807208"/>
                <a:ext cx="2778581" cy="531299"/>
              </a:xfrm>
              <a:prstGeom prst="rect">
                <a:avLst/>
              </a:prstGeom>
              <a:noFill/>
              <a:ln w="31750"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de-DE" sz="3200" b="0" i="1" smtClean="0">
                          <a:latin typeface="Cambria Math" panose="02040503050406030204" pitchFamily="18" charset="0"/>
                        </a:rPr>
                        <m:t>=3∗</m:t>
                      </m:r>
                      <m:sSub>
                        <m:sSubPr>
                          <m:ctrlPr>
                            <a:rPr lang="de-DE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𝑙𝑎𝑦𝑒𝑟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5009E835-EDE7-311D-6A0D-B6186430D9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3473" y="2807208"/>
                <a:ext cx="2778581" cy="5312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17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Grafik 7" descr="Ein Bild, das Entwurf, Kunst enthält.&#10;&#10;Automatisch generierte Beschreibung">
            <a:extLst>
              <a:ext uri="{FF2B5EF4-FFF2-40B4-BE49-F238E27FC236}">
                <a16:creationId xmlns:a16="http://schemas.microsoft.com/office/drawing/2014/main" id="{1BD2C49A-2507-AA36-5FA9-A409E1E382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6185" y="0"/>
            <a:ext cx="1715815" cy="144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91373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AF63A1-0A63-383A-E8A2-BC824D406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" name="Rectangle 101">
            <a:extLst>
              <a:ext uri="{FF2B5EF4-FFF2-40B4-BE49-F238E27FC236}">
                <a16:creationId xmlns:a16="http://schemas.microsoft.com/office/drawing/2014/main" id="{7DF6CEE2-47C4-2931-4F6A-25144A0D62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8B577E7-C12D-D8F4-BBDD-F123160920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34" y="639520"/>
            <a:ext cx="5465066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6.1.2</a:t>
            </a:r>
            <a:b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3800" dirty="0"/>
              <a:t>hidden nodes </a:t>
            </a:r>
            <a:r>
              <a:rPr lang="en-US" sz="3800" dirty="0" err="1"/>
              <a:t>bestimmung</a:t>
            </a:r>
            <a:endParaRPr lang="en-US" sz="3800" kern="1200" dirty="0">
              <a:solidFill>
                <a:schemeClr val="tx1"/>
              </a:solidFill>
            </a:endParaRPr>
          </a:p>
        </p:txBody>
      </p:sp>
      <p:sp>
        <p:nvSpPr>
          <p:cNvPr id="104" name="sketch line">
            <a:extLst>
              <a:ext uri="{FF2B5EF4-FFF2-40B4-BE49-F238E27FC236}">
                <a16:creationId xmlns:a16="http://schemas.microsoft.com/office/drawing/2014/main" id="{B7B4A2CD-2B7E-EDA5-C7CB-C09DD0BC3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CE3B6F1-A01D-5A35-8B19-7DC364053F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11.02.2024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7587571-C9FB-D74A-F8F7-00392B293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Neuronale Netze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073C0D4-C379-0C9D-55BF-6D8CDBBE1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Mathis Grün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Untertitel 2">
                <a:extLst>
                  <a:ext uri="{FF2B5EF4-FFF2-40B4-BE49-F238E27FC236}">
                    <a16:creationId xmlns:a16="http://schemas.microsoft.com/office/drawing/2014/main" id="{E9E6FFAB-0D80-E936-9020-C5A99E571534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630936" y="2807208"/>
                <a:ext cx="4743952" cy="3410712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US" sz="2200" dirty="0"/>
                  <a:t>Verschiedene </a:t>
                </a:r>
                <a:r>
                  <a:rPr lang="en-US" sz="2200" dirty="0" err="1"/>
                  <a:t>Ansätze</a:t>
                </a:r>
                <a:endParaRPr lang="en-US" sz="2200" dirty="0"/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endParaRPr lang="en-US" sz="2200" dirty="0"/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sz="2200" b="0" i="0" smtClean="0">
                        <a:latin typeface="Cambria Math" panose="02040503050406030204" pitchFamily="18" charset="0"/>
                      </a:rPr>
                      <m:t>f</m:t>
                    </m:r>
                    <m:r>
                      <a:rPr lang="de-DE" sz="2200" b="0" i="0" smtClean="0">
                        <a:latin typeface="Cambria Math" panose="02040503050406030204" pitchFamily="18" charset="0"/>
                      </a:rPr>
                      <m:t>ü</m:t>
                    </m:r>
                    <m:r>
                      <m:rPr>
                        <m:sty m:val="p"/>
                      </m:rPr>
                      <a:rPr lang="de-DE" sz="2200" b="0" i="0" smtClean="0">
                        <a:latin typeface="Cambria Math" panose="02040503050406030204" pitchFamily="18" charset="0"/>
                      </a:rPr>
                      <m:t>r</m:t>
                    </m:r>
                    <m:r>
                      <a:rPr lang="de-DE" sz="22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2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de-DE" sz="22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de-DE" sz="2200" b="0" i="1" smtClean="0">
                        <a:latin typeface="Cambria Math" panose="02040503050406030204" pitchFamily="18" charset="0"/>
                      </a:rPr>
                      <m:t>=15 </m:t>
                    </m:r>
                    <m:r>
                      <a:rPr lang="de-DE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𝑜𝑑𝑒𝑟</m:t>
                    </m:r>
                    <m:r>
                      <a:rPr lang="de-DE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38 </m:t>
                    </m:r>
                    <m:r>
                      <a:rPr lang="de-DE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𝑜𝑑𝑒𝑟</m:t>
                    </m:r>
                    <m:r>
                      <a:rPr lang="de-DE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75?</m:t>
                    </m:r>
                  </m:oMath>
                </a14:m>
                <a:r>
                  <a:rPr lang="en-US" sz="2200" dirty="0"/>
                  <a:t> </a:t>
                </a: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endParaRPr lang="en-US" sz="2200" dirty="0"/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sz="2200" b="0" i="0" smtClean="0">
                        <a:latin typeface="Cambria Math" panose="02040503050406030204" pitchFamily="18" charset="0"/>
                      </a:rPr>
                      <m:t>f</m:t>
                    </m:r>
                    <m:r>
                      <a:rPr lang="de-DE" sz="2200" b="0" i="0" smtClean="0">
                        <a:latin typeface="Cambria Math" panose="02040503050406030204" pitchFamily="18" charset="0"/>
                      </a:rPr>
                      <m:t>ü</m:t>
                    </m:r>
                    <m:r>
                      <m:rPr>
                        <m:sty m:val="p"/>
                      </m:rPr>
                      <a:rPr lang="de-DE" sz="2200" b="0" i="0" smtClean="0">
                        <a:latin typeface="Cambria Math" panose="02040503050406030204" pitchFamily="18" charset="0"/>
                      </a:rPr>
                      <m:t>r</m:t>
                    </m:r>
                    <m:r>
                      <a:rPr lang="de-DE" sz="22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2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de-DE" sz="22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de-DE" sz="2200" b="0" i="1" smtClean="0">
                        <a:latin typeface="Cambria Math" panose="02040503050406030204" pitchFamily="18" charset="0"/>
                      </a:rPr>
                      <m:t>=88</m:t>
                    </m:r>
                  </m:oMath>
                </a14:m>
                <a:endParaRPr lang="en-US" sz="2200" dirty="0"/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endParaRPr lang="en-US" sz="2200" dirty="0"/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sz="2200" b="0" i="0" smtClean="0">
                        <a:latin typeface="Cambria Math" panose="02040503050406030204" pitchFamily="18" charset="0"/>
                      </a:rPr>
                      <m:t>f</m:t>
                    </m:r>
                    <m:r>
                      <a:rPr lang="de-DE" sz="2200" b="0" i="0" smtClean="0">
                        <a:latin typeface="Cambria Math" panose="02040503050406030204" pitchFamily="18" charset="0"/>
                      </a:rPr>
                      <m:t>ü</m:t>
                    </m:r>
                    <m:r>
                      <m:rPr>
                        <m:sty m:val="p"/>
                      </m:rPr>
                      <a:rPr lang="de-DE" sz="2200" b="0" i="0" smtClean="0">
                        <a:latin typeface="Cambria Math" panose="02040503050406030204" pitchFamily="18" charset="0"/>
                      </a:rPr>
                      <m:t>r</m:t>
                    </m:r>
                    <m:r>
                      <a:rPr lang="de-DE" sz="22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2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de-DE" sz="22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de-DE" sz="2200" b="0" i="1" smtClean="0">
                        <a:latin typeface="Cambria Math" panose="02040503050406030204" pitchFamily="18" charset="0"/>
                      </a:rPr>
                      <m:t>=523</m:t>
                    </m:r>
                  </m:oMath>
                </a14:m>
                <a:endParaRPr lang="en-US" sz="2200" dirty="0"/>
              </a:p>
            </p:txBody>
          </p:sp>
        </mc:Choice>
        <mc:Fallback>
          <p:sp>
            <p:nvSpPr>
              <p:cNvPr id="3" name="Untertitel 2">
                <a:extLst>
                  <a:ext uri="{FF2B5EF4-FFF2-40B4-BE49-F238E27FC236}">
                    <a16:creationId xmlns:a16="http://schemas.microsoft.com/office/drawing/2014/main" id="{E9E6FFAB-0D80-E936-9020-C5A99E5715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630936" y="2807208"/>
                <a:ext cx="4743952" cy="3410712"/>
              </a:xfrm>
              <a:blipFill>
                <a:blip r:embed="rId2"/>
                <a:stretch>
                  <a:fillRect l="-1542" t="-214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852B726D-09F7-2BAA-7AA8-EAD1F69062F8}"/>
                  </a:ext>
                </a:extLst>
              </p:cNvPr>
              <p:cNvSpPr txBox="1"/>
              <p:nvPr/>
            </p:nvSpPr>
            <p:spPr>
              <a:xfrm>
                <a:off x="6847935" y="1443736"/>
                <a:ext cx="3772636" cy="1009315"/>
              </a:xfrm>
              <a:prstGeom prst="rect">
                <a:avLst/>
              </a:prstGeom>
              <a:noFill/>
              <a:ln w="31750"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de-DE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32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de-DE" sz="32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de-DE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de-DE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d>
                            <m:dPr>
                              <m:ctrlPr>
                                <a:rPr lang="de-DE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de-DE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de-DE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de-DE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de-DE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</m:e>
                          </m:d>
                          <m:r>
                            <a:rPr lang="de-DE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852B726D-09F7-2BAA-7AA8-EAD1F69062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7935" y="1443736"/>
                <a:ext cx="3772636" cy="10093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17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EDE1647E-E2E6-BD3F-BE64-1E6E7DD9197D}"/>
                  </a:ext>
                </a:extLst>
              </p:cNvPr>
              <p:cNvSpPr txBox="1"/>
              <p:nvPr/>
            </p:nvSpPr>
            <p:spPr>
              <a:xfrm>
                <a:off x="7637030" y="4884773"/>
                <a:ext cx="2194447" cy="925190"/>
              </a:xfrm>
              <a:prstGeom prst="rect">
                <a:avLst/>
              </a:prstGeom>
              <a:noFill/>
              <a:ln w="31750"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de-DE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de-DE" sz="3200" b="0" i="1" smtClean="0">
                          <a:latin typeface="Cambria Math" panose="02040503050406030204" pitchFamily="18" charset="0"/>
                        </a:rPr>
                        <m:t>∗ </m:t>
                      </m:r>
                      <m:sSub>
                        <m:sSubPr>
                          <m:ctrlPr>
                            <a:rPr lang="de-DE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EDE1647E-E2E6-BD3F-BE64-1E6E7DD919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7030" y="4884773"/>
                <a:ext cx="2194447" cy="92519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17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75A6374E-8B9A-AF0E-8A0C-97174FD7974B}"/>
                  </a:ext>
                </a:extLst>
              </p:cNvPr>
              <p:cNvSpPr txBox="1"/>
              <p:nvPr/>
            </p:nvSpPr>
            <p:spPr>
              <a:xfrm>
                <a:off x="6922815" y="3388796"/>
                <a:ext cx="3622876" cy="688715"/>
              </a:xfrm>
              <a:prstGeom prst="rect">
                <a:avLst/>
              </a:prstGeom>
              <a:noFill/>
              <a:ln w="3175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de-DE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de-DE" sz="3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de-DE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32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de-DE" sz="3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de-DE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32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de-DE" sz="32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e>
                      </m:rad>
                    </m:oMath>
                  </m:oMathPara>
                </a14:m>
                <a:endParaRPr lang="de-DE" sz="3200" dirty="0"/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75A6374E-8B9A-AF0E-8A0C-97174FD797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2815" y="3388796"/>
                <a:ext cx="3622876" cy="68871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17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Grafik 10" descr="Ein Bild, das Entwurf, Kunst enthält.&#10;&#10;Automatisch generierte Beschreibung">
            <a:extLst>
              <a:ext uri="{FF2B5EF4-FFF2-40B4-BE49-F238E27FC236}">
                <a16:creationId xmlns:a16="http://schemas.microsoft.com/office/drawing/2014/main" id="{BFC621DA-4D94-E3D7-B8A3-982DA82019C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6185" y="0"/>
            <a:ext cx="1715815" cy="144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16982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BD788E-C49E-6DDB-7867-51B9951E6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" name="Rectangle 101">
            <a:extLst>
              <a:ext uri="{FF2B5EF4-FFF2-40B4-BE49-F238E27FC236}">
                <a16:creationId xmlns:a16="http://schemas.microsoft.com/office/drawing/2014/main" id="{2B5C1F51-E3CD-3079-1C20-B83FD9F8D2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5E6A1BF-2573-2531-0E2F-66A8E5728A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34" y="639520"/>
            <a:ext cx="5110109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6.1.2</a:t>
            </a:r>
            <a:b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3800" dirty="0"/>
              <a:t>Evaluation</a:t>
            </a:r>
            <a:endParaRPr lang="en-US" sz="38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4" name="sketch line">
            <a:extLst>
              <a:ext uri="{FF2B5EF4-FFF2-40B4-BE49-F238E27FC236}">
                <a16:creationId xmlns:a16="http://schemas.microsoft.com/office/drawing/2014/main" id="{E7C00FEC-8E5F-65CB-7071-BC4E54D8F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AA94DB0-A633-A684-3BB2-17A8CE223E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11.02.2024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523C6E4-95C7-7D4B-4513-0702FF8D1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Neuronale Netze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D2139D6-3A91-DBA6-F485-0763DE3A1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Mathis Grün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6681C4B-9249-2CEB-824E-8ACF68C8A8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936" y="2807208"/>
            <a:ext cx="4743952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 err="1"/>
              <a:t>Grafische</a:t>
            </a:r>
            <a:r>
              <a:rPr lang="en-US" sz="2200" dirty="0"/>
              <a:t> </a:t>
            </a:r>
            <a:r>
              <a:rPr lang="en-US" sz="2200" dirty="0" err="1"/>
              <a:t>Auswertung</a:t>
            </a:r>
            <a:endParaRPr lang="en-US" sz="22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 err="1"/>
              <a:t>Welche</a:t>
            </a:r>
            <a:r>
              <a:rPr lang="en-US" sz="2200" dirty="0"/>
              <a:t> </a:t>
            </a:r>
            <a:r>
              <a:rPr lang="en-US" sz="2200" dirty="0" err="1"/>
              <a:t>Werte</a:t>
            </a:r>
            <a:r>
              <a:rPr lang="en-US" sz="2200" dirty="0"/>
              <a:t> </a:t>
            </a:r>
            <a:r>
              <a:rPr lang="en-US" sz="2200" dirty="0" err="1"/>
              <a:t>haben</a:t>
            </a:r>
            <a:r>
              <a:rPr lang="en-US" sz="2200" dirty="0"/>
              <a:t> am </a:t>
            </a:r>
            <a:r>
              <a:rPr lang="en-US" sz="2200" dirty="0" err="1"/>
              <a:t>besten</a:t>
            </a:r>
            <a:r>
              <a:rPr lang="en-US" sz="2200" dirty="0"/>
              <a:t> </a:t>
            </a:r>
            <a:r>
              <a:rPr lang="en-US" sz="2200" dirty="0" err="1"/>
              <a:t>abgeschnitten</a:t>
            </a:r>
            <a:endParaRPr lang="en-US" sz="22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34FC9F09-4A73-C341-C9BF-5B2BAD1669ED}"/>
              </a:ext>
            </a:extLst>
          </p:cNvPr>
          <p:cNvSpPr txBox="1"/>
          <p:nvPr/>
        </p:nvSpPr>
        <p:spPr>
          <a:xfrm>
            <a:off x="5741043" y="5786805"/>
            <a:ext cx="4961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chemeClr val="bg2">
                    <a:lumMod val="75000"/>
                  </a:schemeClr>
                </a:solidFill>
              </a:rPr>
              <a:t>https://thenounproject.com/icon/evaluation-6581229/</a:t>
            </a:r>
          </a:p>
        </p:txBody>
      </p:sp>
      <p:pic>
        <p:nvPicPr>
          <p:cNvPr id="9" name="Grafik 8" descr="Ein Bild, das Screenshot, Kreis, Design enthält.&#10;&#10;Automatisch generierte Beschreibung">
            <a:extLst>
              <a:ext uri="{FF2B5EF4-FFF2-40B4-BE49-F238E27FC236}">
                <a16:creationId xmlns:a16="http://schemas.microsoft.com/office/drawing/2014/main" id="{1B6C3C1E-245B-D450-C35A-F392CC025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4574" y="484473"/>
            <a:ext cx="4403930" cy="5302332"/>
          </a:xfrm>
          <a:prstGeom prst="rect">
            <a:avLst/>
          </a:prstGeom>
        </p:spPr>
      </p:pic>
      <p:pic>
        <p:nvPicPr>
          <p:cNvPr id="8" name="Grafik 7" descr="Ein Bild, das Entwurf, Kunst enthält.&#10;&#10;Automatisch generierte Beschreibung">
            <a:extLst>
              <a:ext uri="{FF2B5EF4-FFF2-40B4-BE49-F238E27FC236}">
                <a16:creationId xmlns:a16="http://schemas.microsoft.com/office/drawing/2014/main" id="{2696D3FC-4790-9EB6-E78B-244D2431A8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6185" y="0"/>
            <a:ext cx="1715815" cy="144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700535"/>
      </p:ext>
    </p:extLst>
  </p:cSld>
  <p:clrMapOvr>
    <a:masterClrMapping/>
  </p:clrMapOvr>
  <p:transition spd="slow">
    <p:push dir="u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1DC260-C95E-A9EE-17CE-988EB3D4A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" name="Rectangle 101">
            <a:extLst>
              <a:ext uri="{FF2B5EF4-FFF2-40B4-BE49-F238E27FC236}">
                <a16:creationId xmlns:a16="http://schemas.microsoft.com/office/drawing/2014/main" id="{0639B572-3C1C-1530-4770-6D3B68FE67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sketch line">
            <a:extLst>
              <a:ext uri="{FF2B5EF4-FFF2-40B4-BE49-F238E27FC236}">
                <a16:creationId xmlns:a16="http://schemas.microsoft.com/office/drawing/2014/main" id="{82F4DAA8-0E66-BA43-817F-ED35866646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448F30A-E75B-7B54-1CC1-1B945A0043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11.02.2024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B357409-70AF-365A-1EF6-A786110F8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Neuronale Netze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FE2EC89-97E5-6DAA-B652-81AD80CD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Mathis Grün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3189D79-EF08-AF5E-0163-A845A97C9C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936" y="2807208"/>
            <a:ext cx="4743952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30A5EA20-608E-8B3C-A058-5AFC57CEAC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0957" y="5215008"/>
            <a:ext cx="6089734" cy="368487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8D4545B4-6799-446A-F597-322E63E277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4512564"/>
            <a:ext cx="8609756" cy="708398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4ECED278-234B-BCEB-6F2A-A9DD53108F4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629"/>
          <a:stretch/>
        </p:blipFill>
        <p:spPr>
          <a:xfrm>
            <a:off x="182674" y="104844"/>
            <a:ext cx="4768038" cy="426929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F575FF7D-AA87-141F-8BAF-D32C0BC8B13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/>
          <a:stretch/>
        </p:blipFill>
        <p:spPr>
          <a:xfrm>
            <a:off x="6429382" y="119132"/>
            <a:ext cx="4941317" cy="4393431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CBCA88D5-F50F-882D-4ED5-2E50FC11E890}"/>
              </a:ext>
            </a:extLst>
          </p:cNvPr>
          <p:cNvSpPr txBox="1"/>
          <p:nvPr/>
        </p:nvSpPr>
        <p:spPr>
          <a:xfrm>
            <a:off x="3525293" y="5923406"/>
            <a:ext cx="4961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chemeClr val="bg2">
                    <a:lumMod val="75000"/>
                  </a:schemeClr>
                </a:solidFill>
              </a:rPr>
              <a:t>Thesenpapier Abbildung 23</a:t>
            </a:r>
          </a:p>
        </p:txBody>
      </p:sp>
    </p:spTree>
    <p:extLst>
      <p:ext uri="{BB962C8B-B14F-4D97-AF65-F5344CB8AC3E}">
        <p14:creationId xmlns:p14="http://schemas.microsoft.com/office/powerpoint/2010/main" val="555162324"/>
      </p:ext>
    </p:extLst>
  </p:cSld>
  <p:clrMapOvr>
    <a:masterClrMapping/>
  </p:clrMapOvr>
  <p:transition spd="slow">
    <p:push dir="u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268258-8D30-1BF2-9054-4E6780A1A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" name="Rectangle 101">
            <a:extLst>
              <a:ext uri="{FF2B5EF4-FFF2-40B4-BE49-F238E27FC236}">
                <a16:creationId xmlns:a16="http://schemas.microsoft.com/office/drawing/2014/main" id="{AA01B184-1DCB-4FBA-B3E8-90CD7B4D1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97EA06F-04A4-85D0-D7C6-12A45E4FC0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34" y="639520"/>
            <a:ext cx="5110109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6.1.2</a:t>
            </a:r>
            <a:b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3800" dirty="0"/>
              <a:t>Evaluation</a:t>
            </a:r>
            <a:endParaRPr lang="en-US" sz="38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4" name="sketch line">
            <a:extLst>
              <a:ext uri="{FF2B5EF4-FFF2-40B4-BE49-F238E27FC236}">
                <a16:creationId xmlns:a16="http://schemas.microsoft.com/office/drawing/2014/main" id="{FF61CC95-834D-643D-9F83-90DC2705E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2E161BE-EA72-6CC2-363F-CD4D40529A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11.02.2024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27C4B75-1CBC-6093-F98A-685BC3299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Neuronale Netze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673DA28-5B0A-5DEA-1120-7F001F6DF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Mathis Grün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C7E46F5-361B-5C51-3E36-51B1D436AD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936" y="2807208"/>
            <a:ext cx="4743952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/>
              <a:t>(523, 0.1, 9, 0.9735)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/>
              <a:t>Hidden nodes: 523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/>
              <a:t>Learning rate: 0.1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/>
              <a:t>Epochs: 9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3D1F92D1-2A5D-BE03-9F4E-A46BB3DE16D9}"/>
              </a:ext>
            </a:extLst>
          </p:cNvPr>
          <p:cNvSpPr txBox="1"/>
          <p:nvPr/>
        </p:nvSpPr>
        <p:spPr>
          <a:xfrm>
            <a:off x="5741043" y="5786805"/>
            <a:ext cx="4961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chemeClr val="bg2">
                    <a:lumMod val="75000"/>
                  </a:schemeClr>
                </a:solidFill>
              </a:rPr>
              <a:t>https://thenounproject.com/icon/evaluation-4636964/</a:t>
            </a:r>
          </a:p>
        </p:txBody>
      </p:sp>
      <p:pic>
        <p:nvPicPr>
          <p:cNvPr id="13" name="Grafik 12" descr="Ein Bild, das Screenshot, Schwarz, Design enthält.&#10;&#10;Automatisch generierte Beschreibung">
            <a:extLst>
              <a:ext uri="{FF2B5EF4-FFF2-40B4-BE49-F238E27FC236}">
                <a16:creationId xmlns:a16="http://schemas.microsoft.com/office/drawing/2014/main" id="{1D5F86AE-0779-536F-6372-D21C914598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7958" y="1019445"/>
            <a:ext cx="3555555" cy="4317460"/>
          </a:xfrm>
          <a:prstGeom prst="rect">
            <a:avLst/>
          </a:prstGeom>
        </p:spPr>
      </p:pic>
      <p:pic>
        <p:nvPicPr>
          <p:cNvPr id="14" name="Grafik 13" descr="Ein Bild, das Entwurf, Kunst enthält.&#10;&#10;Automatisch generierte Beschreibung">
            <a:extLst>
              <a:ext uri="{FF2B5EF4-FFF2-40B4-BE49-F238E27FC236}">
                <a16:creationId xmlns:a16="http://schemas.microsoft.com/office/drawing/2014/main" id="{7F90D760-ABB6-CC8D-5BA9-C2913EAC00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6185" y="0"/>
            <a:ext cx="1715815" cy="144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973314"/>
      </p:ext>
    </p:extLst>
  </p:cSld>
  <p:clrMapOvr>
    <a:masterClrMapping/>
  </p:clrMapOvr>
  <p:transition spd="slow">
    <p:push dir="u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E1B173-2299-7676-6889-4ED1407C2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" name="Rectangle 101">
            <a:extLst>
              <a:ext uri="{FF2B5EF4-FFF2-40B4-BE49-F238E27FC236}">
                <a16:creationId xmlns:a16="http://schemas.microsoft.com/office/drawing/2014/main" id="{98BA022D-8BF2-53D2-1EE7-3F2F6CC563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6F6394A-9681-3375-2874-3743B2D6BF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34" y="639520"/>
            <a:ext cx="5647203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6.</a:t>
            </a:r>
            <a:r>
              <a:rPr lang="en-US" sz="3800" dirty="0"/>
              <a:t>2</a:t>
            </a:r>
            <a:b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3800" dirty="0" err="1"/>
              <a:t>Unterschiedliche</a:t>
            </a:r>
            <a:r>
              <a:rPr lang="en-US" sz="3800" dirty="0"/>
              <a:t> Parameter</a:t>
            </a:r>
            <a:endParaRPr lang="en-US" sz="38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4" name="sketch line">
            <a:extLst>
              <a:ext uri="{FF2B5EF4-FFF2-40B4-BE49-F238E27FC236}">
                <a16:creationId xmlns:a16="http://schemas.microsoft.com/office/drawing/2014/main" id="{6B973CC8-C17B-FFF3-5EE6-FA07E52C13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DF129E2-7BCB-B0A4-F8FA-2731DC6C05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11.02.2024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C432F6F-FDE4-77E7-50D6-5D9C7051C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Neuronale Netze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90CC610-58FF-D466-37BB-A2E855F82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Mathis Grün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015D04F-AA07-0E35-E345-6F6B8DB344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936" y="2807208"/>
            <a:ext cx="4743952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200" dirty="0"/>
              <a:t> </a:t>
            </a:r>
            <a:r>
              <a:rPr lang="en-US" sz="2200" dirty="0" err="1"/>
              <a:t>Implementierung</a:t>
            </a:r>
            <a:endParaRPr lang="en-US" sz="2200" dirty="0"/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200" dirty="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200" dirty="0"/>
              <a:t>Evaluation der Parameter</a:t>
            </a:r>
          </a:p>
          <a:p>
            <a:pPr algn="l"/>
            <a:endParaRPr lang="en-US" sz="2200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4D1FDFC0-D5B6-F740-FD89-2E0A74163E5E}"/>
              </a:ext>
            </a:extLst>
          </p:cNvPr>
          <p:cNvSpPr txBox="1"/>
          <p:nvPr/>
        </p:nvSpPr>
        <p:spPr>
          <a:xfrm>
            <a:off x="5954522" y="5656120"/>
            <a:ext cx="4961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chemeClr val="bg2">
                    <a:lumMod val="75000"/>
                  </a:schemeClr>
                </a:solidFill>
              </a:rPr>
              <a:t>https://thenounproject.com/icon/difference-3976933/</a:t>
            </a:r>
          </a:p>
        </p:txBody>
      </p:sp>
      <p:pic>
        <p:nvPicPr>
          <p:cNvPr id="9" name="Grafik 8" descr="Ein Bild, das Screenshot, Diagramm, Schwarz, Design enthält.&#10;&#10;Automatisch generierte Beschreibung">
            <a:extLst>
              <a:ext uri="{FF2B5EF4-FFF2-40B4-BE49-F238E27FC236}">
                <a16:creationId xmlns:a16="http://schemas.microsoft.com/office/drawing/2014/main" id="{20A8E3A5-CAED-C1FA-E054-F461F6A9E5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4751" y="1113123"/>
            <a:ext cx="3640601" cy="3648894"/>
          </a:xfrm>
          <a:prstGeom prst="rect">
            <a:avLst/>
          </a:prstGeom>
        </p:spPr>
      </p:pic>
      <p:pic>
        <p:nvPicPr>
          <p:cNvPr id="10" name="Grafik 9" descr="Ein Bild, das Entwurf, Kunst enthält.&#10;&#10;Automatisch generierte Beschreibung">
            <a:extLst>
              <a:ext uri="{FF2B5EF4-FFF2-40B4-BE49-F238E27FC236}">
                <a16:creationId xmlns:a16="http://schemas.microsoft.com/office/drawing/2014/main" id="{7517CC60-E405-0AEC-CEE4-0F5A645489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6185" y="0"/>
            <a:ext cx="1715815" cy="144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366633"/>
      </p:ext>
    </p:extLst>
  </p:cSld>
  <p:clrMapOvr>
    <a:masterClrMapping/>
  </p:clrMapOvr>
  <p:transition spd="slow">
    <p:push dir="u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14E471-3A67-43B9-0546-5E781D096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" name="Rectangle 101">
            <a:extLst>
              <a:ext uri="{FF2B5EF4-FFF2-40B4-BE49-F238E27FC236}">
                <a16:creationId xmlns:a16="http://schemas.microsoft.com/office/drawing/2014/main" id="{665AA7E5-E049-59AF-A1F2-513A549BED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0719E8D-8E17-6A29-AC50-6824EBE1B6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34" y="639520"/>
            <a:ext cx="7522466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6.</a:t>
            </a:r>
            <a:r>
              <a:rPr lang="en-US" sz="3800" dirty="0"/>
              <a:t>2.1</a:t>
            </a:r>
            <a:b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3800" dirty="0" err="1"/>
              <a:t>Implementierung</a:t>
            </a:r>
            <a:endParaRPr lang="en-US" sz="38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4" name="sketch line">
            <a:extLst>
              <a:ext uri="{FF2B5EF4-FFF2-40B4-BE49-F238E27FC236}">
                <a16:creationId xmlns:a16="http://schemas.microsoft.com/office/drawing/2014/main" id="{8A73C93E-BA1A-D895-0DB3-3465163FB3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A068AAD-9EBD-F3AA-D605-88A59A4625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11.02.2024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806F8CA-9407-7898-D59D-1A73BC9F0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Neuronale Netze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F5A47EA-2AAB-FAF9-8A24-7A107F758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Mathis Grün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B8942AE4-1738-F53C-D8BA-733CF01A6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855" y="3014847"/>
            <a:ext cx="9822148" cy="1251110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C00650C0-05C7-C850-8B4D-14B9457B077F}"/>
              </a:ext>
            </a:extLst>
          </p:cNvPr>
          <p:cNvSpPr txBox="1"/>
          <p:nvPr/>
        </p:nvSpPr>
        <p:spPr>
          <a:xfrm>
            <a:off x="941868" y="4448985"/>
            <a:ext cx="4961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chemeClr val="bg2">
                    <a:lumMod val="75000"/>
                  </a:schemeClr>
                </a:solidFill>
              </a:rPr>
              <a:t>Thesenpapier Abbildung 24</a:t>
            </a:r>
          </a:p>
        </p:txBody>
      </p:sp>
      <p:pic>
        <p:nvPicPr>
          <p:cNvPr id="7" name="Grafik 6" descr="Ein Bild, das Entwurf, Kunst enthält.&#10;&#10;Automatisch generierte Beschreibung">
            <a:extLst>
              <a:ext uri="{FF2B5EF4-FFF2-40B4-BE49-F238E27FC236}">
                <a16:creationId xmlns:a16="http://schemas.microsoft.com/office/drawing/2014/main" id="{89F02114-5C0C-B22F-9335-BA015710CD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6185" y="0"/>
            <a:ext cx="1715815" cy="144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208774"/>
      </p:ext>
    </p:extLst>
  </p:cSld>
  <p:clrMapOvr>
    <a:masterClrMapping/>
  </p:clrMapOvr>
  <p:transition spd="slow">
    <p:push dir="u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12735B-6AB0-ED2E-7DEC-D7ABFE539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" name="Rectangle 101">
            <a:extLst>
              <a:ext uri="{FF2B5EF4-FFF2-40B4-BE49-F238E27FC236}">
                <a16:creationId xmlns:a16="http://schemas.microsoft.com/office/drawing/2014/main" id="{143253E6-B8B7-7CDF-2C84-6A5BF5B92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7B7E82C-5FE7-E0E0-20E8-68D0146DF5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34" y="639520"/>
            <a:ext cx="3751495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6.</a:t>
            </a:r>
            <a:r>
              <a:rPr lang="en-US" sz="3800" dirty="0"/>
              <a:t>2.1</a:t>
            </a:r>
            <a:b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3800" dirty="0" err="1"/>
              <a:t>Implementierung</a:t>
            </a:r>
            <a:endParaRPr lang="en-US" sz="38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4" name="sketch line">
            <a:extLst>
              <a:ext uri="{FF2B5EF4-FFF2-40B4-BE49-F238E27FC236}">
                <a16:creationId xmlns:a16="http://schemas.microsoft.com/office/drawing/2014/main" id="{C6547562-69C8-DB96-A9EC-08AB53692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4FA42EF-5EE2-7F3B-5514-456434644D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11.02.2024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8E5EF43-FB8D-284A-129F-B17441651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Neuronale Netze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1AC2695-6AAC-EF18-2E46-A943759AC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Mathis Grün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DDCCF42B-9B0E-7963-B3BA-9B343A84C3B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677"/>
          <a:stretch/>
        </p:blipFill>
        <p:spPr>
          <a:xfrm>
            <a:off x="4560691" y="817940"/>
            <a:ext cx="7185418" cy="5000287"/>
          </a:xfrm>
          <a:prstGeom prst="rect">
            <a:avLst/>
          </a:prstGeom>
        </p:spPr>
      </p:pic>
      <p:sp>
        <p:nvSpPr>
          <p:cNvPr id="11" name="Untertitel 2">
            <a:extLst>
              <a:ext uri="{FF2B5EF4-FFF2-40B4-BE49-F238E27FC236}">
                <a16:creationId xmlns:a16="http://schemas.microsoft.com/office/drawing/2014/main" id="{9B6F3266-62A3-A4A6-3F4C-AEBC9276E4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936" y="2807208"/>
            <a:ext cx="3929755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200" dirty="0"/>
              <a:t> Data </a:t>
            </a:r>
            <a:r>
              <a:rPr lang="en-US" sz="2200" dirty="0" err="1"/>
              <a:t>Liste</a:t>
            </a:r>
            <a:r>
              <a:rPr lang="en-US" sz="2200" dirty="0"/>
              <a:t>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200" dirty="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200" dirty="0"/>
              <a:t>Parameter </a:t>
            </a:r>
            <a:r>
              <a:rPr lang="en-US" sz="2200" dirty="0" err="1"/>
              <a:t>zusammenfassen</a:t>
            </a:r>
            <a:endParaRPr lang="en-US" sz="2200" dirty="0"/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200" dirty="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200" dirty="0" err="1"/>
              <a:t>Jede</a:t>
            </a:r>
            <a:r>
              <a:rPr lang="en-US" sz="2200" dirty="0"/>
              <a:t> </a:t>
            </a:r>
            <a:r>
              <a:rPr lang="en-US" sz="2200" dirty="0" err="1"/>
              <a:t>Kombination</a:t>
            </a:r>
            <a:endParaRPr lang="en-US" sz="2200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662DA29-2B60-6603-2FF6-AE811158BDA3}"/>
              </a:ext>
            </a:extLst>
          </p:cNvPr>
          <p:cNvSpPr txBox="1"/>
          <p:nvPr/>
        </p:nvSpPr>
        <p:spPr>
          <a:xfrm>
            <a:off x="4560691" y="5977765"/>
            <a:ext cx="4961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chemeClr val="bg2">
                    <a:lumMod val="75000"/>
                  </a:schemeClr>
                </a:solidFill>
              </a:rPr>
              <a:t>Thesenpapier Abbildung 25</a:t>
            </a:r>
          </a:p>
        </p:txBody>
      </p:sp>
    </p:spTree>
    <p:extLst>
      <p:ext uri="{BB962C8B-B14F-4D97-AF65-F5344CB8AC3E}">
        <p14:creationId xmlns:p14="http://schemas.microsoft.com/office/powerpoint/2010/main" val="4015589715"/>
      </p:ext>
    </p:extLst>
  </p:cSld>
  <p:clrMapOvr>
    <a:masterClrMapping/>
  </p:clrMapOvr>
  <p:transition spd="slow">
    <p:push dir="u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EEA83A-3E80-AC39-62B8-8B31F5DFE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" name="Rectangle 101">
            <a:extLst>
              <a:ext uri="{FF2B5EF4-FFF2-40B4-BE49-F238E27FC236}">
                <a16:creationId xmlns:a16="http://schemas.microsoft.com/office/drawing/2014/main" id="{201B4A03-F7C9-E132-C4DD-61F99989E8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D1328D4-4A4C-0096-CB52-2D4512061D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34" y="639520"/>
            <a:ext cx="7522466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6.</a:t>
            </a:r>
            <a:r>
              <a:rPr lang="en-US" sz="3800" dirty="0"/>
              <a:t>2.2</a:t>
            </a:r>
            <a:b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4000" dirty="0"/>
              <a:t>Evaluation der Parameter</a:t>
            </a:r>
            <a:endParaRPr lang="en-US" sz="38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4" name="sketch line">
            <a:extLst>
              <a:ext uri="{FF2B5EF4-FFF2-40B4-BE49-F238E27FC236}">
                <a16:creationId xmlns:a16="http://schemas.microsoft.com/office/drawing/2014/main" id="{B72F0192-C1B1-4C06-8866-60FA14950D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20BF49E-CDD9-C50F-C2AD-5571594538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11.02.2024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E74B2ED-2461-9CDF-AE20-54A0377F7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Neuronale Netze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705AD00-EA66-EB17-8229-3CDAC8F3F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Mathis Grün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2F8936E-D743-DD62-6402-8497325B7A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936" y="2807208"/>
            <a:ext cx="4743952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 err="1"/>
              <a:t>Graphische</a:t>
            </a:r>
            <a:r>
              <a:rPr lang="en-US" sz="2200" dirty="0"/>
              <a:t> </a:t>
            </a:r>
            <a:r>
              <a:rPr lang="en-US" sz="2200" dirty="0" err="1"/>
              <a:t>Darstellung</a:t>
            </a:r>
            <a:endParaRPr lang="en-US" sz="22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/>
              <a:t>Wie </a:t>
            </a:r>
            <a:r>
              <a:rPr lang="en-US" sz="2200" dirty="0" err="1"/>
              <a:t>haben</a:t>
            </a:r>
            <a:r>
              <a:rPr lang="en-US" sz="2200" dirty="0"/>
              <a:t> </a:t>
            </a:r>
            <a:r>
              <a:rPr lang="en-US" sz="2200" dirty="0" err="1"/>
              <a:t>welche</a:t>
            </a:r>
            <a:r>
              <a:rPr lang="en-US" sz="2200" dirty="0"/>
              <a:t> Parameter </a:t>
            </a:r>
            <a:r>
              <a:rPr lang="en-US" sz="2200" dirty="0" err="1"/>
              <a:t>Abgeschnitten</a:t>
            </a:r>
            <a:endParaRPr lang="en-US" sz="22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3B6466B7-FB43-5D9D-987B-FE68587751A4}"/>
              </a:ext>
            </a:extLst>
          </p:cNvPr>
          <p:cNvSpPr txBox="1"/>
          <p:nvPr/>
        </p:nvSpPr>
        <p:spPr>
          <a:xfrm>
            <a:off x="5954522" y="5656120"/>
            <a:ext cx="4961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chemeClr val="bg2">
                    <a:lumMod val="75000"/>
                  </a:schemeClr>
                </a:solidFill>
              </a:rPr>
              <a:t>https://thenounproject.com/icon/graph-1894726/</a:t>
            </a:r>
          </a:p>
        </p:txBody>
      </p:sp>
      <p:pic>
        <p:nvPicPr>
          <p:cNvPr id="11" name="Grafik 10" descr="Ein Bild, das Grafiken, Schwarz, Design enthält.&#10;&#10;Automatisch generierte Beschreibung">
            <a:extLst>
              <a:ext uri="{FF2B5EF4-FFF2-40B4-BE49-F238E27FC236}">
                <a16:creationId xmlns:a16="http://schemas.microsoft.com/office/drawing/2014/main" id="{79D89773-37CF-2A9F-6664-4A2D642CBD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6484" y="2013686"/>
            <a:ext cx="4557138" cy="2748332"/>
          </a:xfrm>
          <a:prstGeom prst="rect">
            <a:avLst/>
          </a:prstGeom>
        </p:spPr>
      </p:pic>
      <p:pic>
        <p:nvPicPr>
          <p:cNvPr id="12" name="Grafik 11" descr="Ein Bild, das Entwurf, Kunst enthält.&#10;&#10;Automatisch generierte Beschreibung">
            <a:extLst>
              <a:ext uri="{FF2B5EF4-FFF2-40B4-BE49-F238E27FC236}">
                <a16:creationId xmlns:a16="http://schemas.microsoft.com/office/drawing/2014/main" id="{CF6960C1-6BE6-2B64-DDD5-F9866DA2B9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6185" y="0"/>
            <a:ext cx="1715815" cy="144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830924"/>
      </p:ext>
    </p:extLst>
  </p:cSld>
  <p:clrMapOvr>
    <a:masterClrMapping/>
  </p:clrMapOvr>
  <p:transition spd="slow">
    <p:push dir="u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E00011-17F7-F227-3E7F-BC54C01EF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" name="Rectangle 101">
            <a:extLst>
              <a:ext uri="{FF2B5EF4-FFF2-40B4-BE49-F238E27FC236}">
                <a16:creationId xmlns:a16="http://schemas.microsoft.com/office/drawing/2014/main" id="{FBEDCF70-4310-7AAE-100C-F525341DF4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sketch line">
            <a:extLst>
              <a:ext uri="{FF2B5EF4-FFF2-40B4-BE49-F238E27FC236}">
                <a16:creationId xmlns:a16="http://schemas.microsoft.com/office/drawing/2014/main" id="{74AC550B-54F2-443F-F34F-A7B28D2C37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52DF27A-0579-B6BA-4340-11EC630AE4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11.02.2024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3EBD3F8-F418-AF1A-D4BF-8CBE954AC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Neuronale Netze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807A413-7767-D8C6-1ED4-52F885928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Mathis Grün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4187BC5-DD71-93FE-DAAD-9AF20C3C7B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936" y="2807208"/>
            <a:ext cx="4743952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FED7545C-A757-25D6-3E27-42FA579B94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12" name="Grafik 11" descr="Ein Bild, das Text, Screenshot, Diagramm, Reihe enthält.&#10;&#10;Automatisch generierte Beschreibung">
            <a:extLst>
              <a:ext uri="{FF2B5EF4-FFF2-40B4-BE49-F238E27FC236}">
                <a16:creationId xmlns:a16="http://schemas.microsoft.com/office/drawing/2014/main" id="{F154927F-779E-F750-6D81-75A51D96A3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" y="0"/>
            <a:ext cx="6095555" cy="4926545"/>
          </a:xfrm>
          <a:prstGeom prst="rect">
            <a:avLst/>
          </a:prstGeom>
        </p:spPr>
      </p:pic>
      <p:pic>
        <p:nvPicPr>
          <p:cNvPr id="14" name="Grafik 13" descr="Ein Bild, das Text, Screenshot, Diagramm, Reihe enthält.&#10;&#10;Automatisch generierte Beschreibung">
            <a:extLst>
              <a:ext uri="{FF2B5EF4-FFF2-40B4-BE49-F238E27FC236}">
                <a16:creationId xmlns:a16="http://schemas.microsoft.com/office/drawing/2014/main" id="{C4B4A14E-8D43-A302-9A57-3CCAAA847B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7520" y="66146"/>
            <a:ext cx="6108320" cy="4908257"/>
          </a:xfrm>
          <a:prstGeom prst="rect">
            <a:avLst/>
          </a:prstGeom>
        </p:spPr>
      </p:pic>
      <p:pic>
        <p:nvPicPr>
          <p:cNvPr id="16" name="Grafik 15" descr="Ein Bild, das Text, Screenshot, Schrift, Design enthält.&#10;&#10;Automatisch generierte Beschreibung">
            <a:extLst>
              <a:ext uri="{FF2B5EF4-FFF2-40B4-BE49-F238E27FC236}">
                <a16:creationId xmlns:a16="http://schemas.microsoft.com/office/drawing/2014/main" id="{086FDCFF-9820-CD39-6E91-75E4D89A4F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70" y="4845120"/>
            <a:ext cx="1631276" cy="1497808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44226C39-9AE8-E57E-9757-D53AE43743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87494" y="4817360"/>
            <a:ext cx="2194649" cy="1527270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B619B260-F05C-7140-C09B-8F37D9F5E957}"/>
              </a:ext>
            </a:extLst>
          </p:cNvPr>
          <p:cNvSpPr txBox="1"/>
          <p:nvPr/>
        </p:nvSpPr>
        <p:spPr>
          <a:xfrm>
            <a:off x="2380812" y="5824517"/>
            <a:ext cx="4961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chemeClr val="bg2">
                    <a:lumMod val="75000"/>
                  </a:schemeClr>
                </a:solidFill>
              </a:rPr>
              <a:t>Thesenpapier Abbildung 26 und 27</a:t>
            </a:r>
          </a:p>
        </p:txBody>
      </p:sp>
    </p:spTree>
    <p:extLst>
      <p:ext uri="{BB962C8B-B14F-4D97-AF65-F5344CB8AC3E}">
        <p14:creationId xmlns:p14="http://schemas.microsoft.com/office/powerpoint/2010/main" val="2504037446"/>
      </p:ext>
    </p:extLst>
  </p:cSld>
  <p:clrMapOvr>
    <a:masterClrMapping/>
  </p:clrMapOvr>
  <p:transition spd="slow">
    <p:push dir="u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455E1F-7EB1-C38E-8278-32148AA06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" name="Rectangle 101">
            <a:extLst>
              <a:ext uri="{FF2B5EF4-FFF2-40B4-BE49-F238E27FC236}">
                <a16:creationId xmlns:a16="http://schemas.microsoft.com/office/drawing/2014/main" id="{1D5526D0-36A5-21EA-7F6E-AB08D8861F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sketch line">
            <a:extLst>
              <a:ext uri="{FF2B5EF4-FFF2-40B4-BE49-F238E27FC236}">
                <a16:creationId xmlns:a16="http://schemas.microsoft.com/office/drawing/2014/main" id="{3B5A1EDF-6D4C-5170-2709-E570A122A7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FACB565-70B0-0893-369B-CF1A74E869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11.02.2024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2EC65D5-F5D3-82B7-ADA0-B1A25FB42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Neuronale Netze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224CC41-01EA-7B72-FAD6-A3E769C84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Mathis Grün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0249A72-3AF3-866D-7B1C-B54612230E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936" y="2807208"/>
            <a:ext cx="4743952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6C6E06DA-F2B2-C26C-9CD5-23CF972E8F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4817091D-39B0-D586-B21C-65558706E5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44866" y="45574"/>
            <a:ext cx="6095555" cy="4924251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7CBACEC4-111F-D9EA-0BF8-679EEA5623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34344" y="-5659"/>
            <a:ext cx="6108320" cy="4867751"/>
          </a:xfrm>
          <a:prstGeom prst="rect">
            <a:avLst/>
          </a:prstGeom>
        </p:spPr>
      </p:pic>
      <p:pic>
        <p:nvPicPr>
          <p:cNvPr id="16" name="Grafik 15" descr="Ein Bild, das Text, Screenshot, Schrift, Design enthält.&#10;&#10;Automatisch generierte Beschreibung">
            <a:extLst>
              <a:ext uri="{FF2B5EF4-FFF2-40B4-BE49-F238E27FC236}">
                <a16:creationId xmlns:a16="http://schemas.microsoft.com/office/drawing/2014/main" id="{547B4440-EEAD-E959-3B7F-594C70DD7D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70" y="4845120"/>
            <a:ext cx="1631276" cy="1497808"/>
          </a:xfrm>
          <a:prstGeom prst="rect">
            <a:avLst/>
          </a:prstGeom>
        </p:spPr>
      </p:pic>
      <p:pic>
        <p:nvPicPr>
          <p:cNvPr id="18" name="Grafik 17" descr="Ein Bild, das Text, Schrift, Screenshot, Design enthält.&#10;&#10;Automatisch generierte Beschreibung">
            <a:extLst>
              <a:ext uri="{FF2B5EF4-FFF2-40B4-BE49-F238E27FC236}">
                <a16:creationId xmlns:a16="http://schemas.microsoft.com/office/drawing/2014/main" id="{AE129BB3-EE48-DEF7-6E8A-277C2CC209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7494" y="4805640"/>
            <a:ext cx="2194649" cy="1550710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EAE548B2-8F10-EBC7-0309-61BAD2206A53}"/>
              </a:ext>
            </a:extLst>
          </p:cNvPr>
          <p:cNvSpPr txBox="1"/>
          <p:nvPr/>
        </p:nvSpPr>
        <p:spPr>
          <a:xfrm>
            <a:off x="2380812" y="5824517"/>
            <a:ext cx="4961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chemeClr val="bg2">
                    <a:lumMod val="75000"/>
                  </a:schemeClr>
                </a:solidFill>
              </a:rPr>
              <a:t>Thesenpapier Abbildung 26 und 27</a:t>
            </a:r>
          </a:p>
        </p:txBody>
      </p:sp>
    </p:spTree>
    <p:extLst>
      <p:ext uri="{BB962C8B-B14F-4D97-AF65-F5344CB8AC3E}">
        <p14:creationId xmlns:p14="http://schemas.microsoft.com/office/powerpoint/2010/main" val="2120649788"/>
      </p:ext>
    </p:extLst>
  </p:cSld>
  <p:clrMapOvr>
    <a:masterClrMapping/>
  </p:clrMapOvr>
  <p:transition spd="slow">
    <p:push dir="u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0F9932-1EFA-4AD9-EE69-79FAA70CD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" name="Rectangle 101">
            <a:extLst>
              <a:ext uri="{FF2B5EF4-FFF2-40B4-BE49-F238E27FC236}">
                <a16:creationId xmlns:a16="http://schemas.microsoft.com/office/drawing/2014/main" id="{91E7F8AE-7B94-4B32-A36B-3C9FB51F4F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sketch line">
            <a:extLst>
              <a:ext uri="{FF2B5EF4-FFF2-40B4-BE49-F238E27FC236}">
                <a16:creationId xmlns:a16="http://schemas.microsoft.com/office/drawing/2014/main" id="{2EF03158-6A1E-1128-8946-1C92503FEF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3C5E882-079F-C013-EA85-10BD735721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11.02.2024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4E30187-C14A-1A85-40E7-3D87ABDD8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Neuronale Netze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82CCBA1-FE18-50DB-8C91-4748166D8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Mathis Grün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8785432-331C-4DE7-F3F3-16B047FFB1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936" y="2807208"/>
            <a:ext cx="4743952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92562E64-3492-C0F4-8C74-1CB3B086CB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ECED7E1E-E0F3-7407-0360-C9815C4F2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54" y="85598"/>
            <a:ext cx="6077246" cy="4924251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CE177599-08D3-923B-3FC4-0C0BFAD77D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68366" y="105851"/>
            <a:ext cx="6040275" cy="4867751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764F661F-3EBE-6653-04BE-682A387F0C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2767" y="4745467"/>
            <a:ext cx="2205742" cy="1534989"/>
          </a:xfrm>
          <a:prstGeom prst="rect">
            <a:avLst/>
          </a:prstGeom>
        </p:spPr>
      </p:pic>
      <p:pic>
        <p:nvPicPr>
          <p:cNvPr id="18" name="Grafik 17" descr="Ein Bild, das Text, Schrift, Screenshot, Design enthält.&#10;&#10;Automatisch generierte Beschreibung">
            <a:extLst>
              <a:ext uri="{FF2B5EF4-FFF2-40B4-BE49-F238E27FC236}">
                <a16:creationId xmlns:a16="http://schemas.microsoft.com/office/drawing/2014/main" id="{A4C1284F-7183-46E0-AE37-B271AC45A0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7494" y="4805640"/>
            <a:ext cx="2194649" cy="1550710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46872F06-B1B9-8545-B7DE-BF0AA73ABD8A}"/>
              </a:ext>
            </a:extLst>
          </p:cNvPr>
          <p:cNvSpPr txBox="1"/>
          <p:nvPr/>
        </p:nvSpPr>
        <p:spPr>
          <a:xfrm>
            <a:off x="2380812" y="5824517"/>
            <a:ext cx="4961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chemeClr val="bg2">
                    <a:lumMod val="75000"/>
                  </a:schemeClr>
                </a:solidFill>
              </a:rPr>
              <a:t>Thesenpapier Abbildung 26 und 27</a:t>
            </a:r>
          </a:p>
        </p:txBody>
      </p:sp>
    </p:spTree>
    <p:extLst>
      <p:ext uri="{BB962C8B-B14F-4D97-AF65-F5344CB8AC3E}">
        <p14:creationId xmlns:p14="http://schemas.microsoft.com/office/powerpoint/2010/main" val="762796293"/>
      </p:ext>
    </p:extLst>
  </p:cSld>
  <p:clrMapOvr>
    <a:masterClrMapping/>
  </p:clrMapOvr>
  <p:transition spd="slow">
    <p:push dir="u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0C525B-6E75-19B6-DA76-A4FADDB60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" name="Rectangle 101">
            <a:extLst>
              <a:ext uri="{FF2B5EF4-FFF2-40B4-BE49-F238E27FC236}">
                <a16:creationId xmlns:a16="http://schemas.microsoft.com/office/drawing/2014/main" id="{5AB3465D-021A-842F-CC8D-127B1E88EF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BAF324E-6EEA-C70D-8C5C-4B9419B587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34" y="639520"/>
            <a:ext cx="7522466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6.3</a:t>
            </a:r>
            <a:b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3800" dirty="0"/>
              <a:t>Evaluation der Parameter</a:t>
            </a:r>
            <a:endParaRPr lang="en-US" sz="38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4" name="sketch line">
            <a:extLst>
              <a:ext uri="{FF2B5EF4-FFF2-40B4-BE49-F238E27FC236}">
                <a16:creationId xmlns:a16="http://schemas.microsoft.com/office/drawing/2014/main" id="{0AD21638-63A6-00D8-90A8-FECAAAD7F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7E44E26-1D44-0AD3-701B-327AD26D8B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11.02.2024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0D1B04C-31B8-D39D-A204-A23AA3048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Neuronale Netze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D7C70E2-8405-5D0A-9BE0-77B1E2DC5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Mathis Grün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9E0CDC5-CE48-9D23-C92D-96F69E07B2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936" y="2807208"/>
            <a:ext cx="4743952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 err="1"/>
              <a:t>hn</a:t>
            </a:r>
            <a:r>
              <a:rPr lang="en-US" sz="2200" dirty="0"/>
              <a:t>, </a:t>
            </a:r>
            <a:r>
              <a:rPr lang="en-US" sz="2200" dirty="0" err="1"/>
              <a:t>lr</a:t>
            </a:r>
            <a:r>
              <a:rPr lang="en-US" sz="2200" dirty="0"/>
              <a:t>, ep, acc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/>
              <a:t>(500, 0.1, 10, 0.9753)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/>
              <a:t>(500, 0.1, 15, 0.9755)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/>
              <a:t>(784, 0.1, 10, 0.976)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C0B52837-E752-D6FF-741D-AC31CBF367FC}"/>
              </a:ext>
            </a:extLst>
          </p:cNvPr>
          <p:cNvSpPr txBox="1"/>
          <p:nvPr/>
        </p:nvSpPr>
        <p:spPr>
          <a:xfrm>
            <a:off x="6302675" y="5695540"/>
            <a:ext cx="4961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chemeClr val="bg2">
                    <a:lumMod val="75000"/>
                  </a:schemeClr>
                </a:solidFill>
              </a:rPr>
              <a:t>https://thenounproject.com/icon/innovation-4256180/</a:t>
            </a:r>
          </a:p>
        </p:txBody>
      </p:sp>
      <p:pic>
        <p:nvPicPr>
          <p:cNvPr id="9" name="Grafik 8" descr="Ein Bild, das Zeichnung, Entwurf, Grafiken, Kreis enthält.&#10;&#10;Automatisch generierte Beschreibung">
            <a:extLst>
              <a:ext uri="{FF2B5EF4-FFF2-40B4-BE49-F238E27FC236}">
                <a16:creationId xmlns:a16="http://schemas.microsoft.com/office/drawing/2014/main" id="{5225B500-8D5B-6078-60F9-87A145E651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2675" y="831789"/>
            <a:ext cx="4615849" cy="4818496"/>
          </a:xfrm>
          <a:prstGeom prst="rect">
            <a:avLst/>
          </a:prstGeom>
        </p:spPr>
      </p:pic>
      <p:pic>
        <p:nvPicPr>
          <p:cNvPr id="10" name="Grafik 9" descr="Ein Bild, das Entwurf, Kunst enthält.&#10;&#10;Automatisch generierte Beschreibung">
            <a:extLst>
              <a:ext uri="{FF2B5EF4-FFF2-40B4-BE49-F238E27FC236}">
                <a16:creationId xmlns:a16="http://schemas.microsoft.com/office/drawing/2014/main" id="{9DE6C791-FEFE-84EB-3868-99BB52D81F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6185" y="0"/>
            <a:ext cx="1715815" cy="144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487243"/>
      </p:ext>
    </p:extLst>
  </p:cSld>
  <p:clrMapOvr>
    <a:masterClrMapping/>
  </p:clrMapOvr>
  <p:transition spd="slow">
    <p:push dir="u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9F7856-9400-C299-4D8A-96FE4156F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" name="Rectangle 101">
            <a:extLst>
              <a:ext uri="{FF2B5EF4-FFF2-40B4-BE49-F238E27FC236}">
                <a16:creationId xmlns:a16="http://schemas.microsoft.com/office/drawing/2014/main" id="{4A0D0F00-FDBD-E695-61A8-F1082852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5C37764-FB27-248D-8596-715025525C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34" y="639520"/>
            <a:ext cx="7522466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6.3</a:t>
            </a:r>
            <a:b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3800" dirty="0"/>
              <a:t>Generalization und Ockham's razor</a:t>
            </a:r>
            <a:endParaRPr lang="en-US" sz="38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4" name="sketch line">
            <a:extLst>
              <a:ext uri="{FF2B5EF4-FFF2-40B4-BE49-F238E27FC236}">
                <a16:creationId xmlns:a16="http://schemas.microsoft.com/office/drawing/2014/main" id="{DCDD069B-B23F-6E52-4A6D-F11EFA3BC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9A9745B-43B3-28A1-9D77-FA2168104E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11.02.2024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0F63188-ED6F-FF4F-F416-19C697069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Neuronale Netze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3868F9B-08EA-33B6-26F0-3BF5D33CD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Mathis Grün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69FBA31-0029-6BBD-E2E7-3FE05675CE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936" y="2807208"/>
            <a:ext cx="4743952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/>
              <a:t>(784, 0.1, 10, 0.976)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/>
              <a:t>Input nodes = hidden nodes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/>
              <a:t>Performance </a:t>
            </a:r>
            <a:r>
              <a:rPr lang="en-US" sz="2200" dirty="0" err="1"/>
              <a:t>unter</a:t>
            </a:r>
            <a:r>
              <a:rPr lang="en-US" sz="2200" dirty="0"/>
              <a:t> </a:t>
            </a:r>
            <a:r>
              <a:rPr lang="en-US" sz="2200" dirty="0" err="1"/>
              <a:t>anderen</a:t>
            </a:r>
            <a:r>
              <a:rPr lang="en-US" sz="2200" dirty="0"/>
              <a:t> </a:t>
            </a:r>
            <a:r>
              <a:rPr lang="en-US" sz="2200" dirty="0" err="1"/>
              <a:t>Vorraussetzungen</a:t>
            </a:r>
            <a:r>
              <a:rPr lang="en-US" sz="2200" dirty="0"/>
              <a:t>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 err="1"/>
              <a:t>Netz</a:t>
            </a:r>
            <a:r>
              <a:rPr lang="en-US" sz="2200" dirty="0"/>
              <a:t> </a:t>
            </a:r>
            <a:r>
              <a:rPr lang="en-US" sz="2200" dirty="0" err="1"/>
              <a:t>einfach</a:t>
            </a:r>
            <a:r>
              <a:rPr lang="en-US" sz="2200" dirty="0"/>
              <a:t> Gestalten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pic>
        <p:nvPicPr>
          <p:cNvPr id="8" name="Grafik 7" descr="Ein Bild, das Screenshot, Schwarz, Astronomie, Design enthält.&#10;&#10;Automatisch generierte Beschreibung">
            <a:extLst>
              <a:ext uri="{FF2B5EF4-FFF2-40B4-BE49-F238E27FC236}">
                <a16:creationId xmlns:a16="http://schemas.microsoft.com/office/drawing/2014/main" id="{695800D8-348C-6815-F4E9-2DD9742947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8502" y="1156130"/>
            <a:ext cx="5083454" cy="5035587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BA4E69EE-9034-E947-615F-C995B8390FA3}"/>
              </a:ext>
            </a:extLst>
          </p:cNvPr>
          <p:cNvSpPr txBox="1"/>
          <p:nvPr/>
        </p:nvSpPr>
        <p:spPr>
          <a:xfrm>
            <a:off x="6005824" y="6048573"/>
            <a:ext cx="4961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chemeClr val="bg2">
                    <a:lumMod val="75000"/>
                  </a:schemeClr>
                </a:solidFill>
              </a:rPr>
              <a:t>https://thenounproject.com/icon/razor-4275960/</a:t>
            </a:r>
          </a:p>
        </p:txBody>
      </p:sp>
      <p:pic>
        <p:nvPicPr>
          <p:cNvPr id="10" name="Grafik 9" descr="Ein Bild, das Entwurf, Kunst enthält.&#10;&#10;Automatisch generierte Beschreibung">
            <a:extLst>
              <a:ext uri="{FF2B5EF4-FFF2-40B4-BE49-F238E27FC236}">
                <a16:creationId xmlns:a16="http://schemas.microsoft.com/office/drawing/2014/main" id="{AA908874-FD53-F8FE-4EBC-ECC986EB9B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6185" y="0"/>
            <a:ext cx="1715815" cy="144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915914"/>
      </p:ext>
    </p:extLst>
  </p:cSld>
  <p:clrMapOvr>
    <a:masterClrMapping/>
  </p:clrMapOvr>
  <p:transition spd="slow">
    <p:push dir="u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BF35AF-EDA1-5650-AAE6-FBEB38A92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474D995-964C-50DC-36D8-B7FAA644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7. Demonstration</a:t>
            </a:r>
          </a:p>
        </p:txBody>
      </p:sp>
      <p:sp>
        <p:nvSpPr>
          <p:cNvPr id="16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Untertitel 2">
            <a:extLst>
              <a:ext uri="{FF2B5EF4-FFF2-40B4-BE49-F238E27FC236}">
                <a16:creationId xmlns:a16="http://schemas.microsoft.com/office/drawing/2014/main" id="{A092A5C4-D62E-B9BC-3F16-B2FC592751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2493" y="2071316"/>
            <a:ext cx="6713552" cy="411917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228600">
              <a:buFont typeface="Arial" panose="020B0604020202020204" pitchFamily="34" charset="0"/>
              <a:buChar char="•"/>
            </a:pPr>
            <a:r>
              <a:rPr lang="en-US" sz="2200" dirty="0" err="1"/>
              <a:t>Vorführen</a:t>
            </a:r>
            <a:r>
              <a:rPr lang="en-US" sz="2200" dirty="0"/>
              <a:t> des Codes </a:t>
            </a:r>
          </a:p>
          <a:p>
            <a:pPr marL="457200" indent="-2286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457200" indent="-228600"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2F34237-00AE-A8AD-56FC-82FB3A460B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11.02.2024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A4C5ADD-97B7-A4D1-06BF-42400B8DE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kern="120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t>Neuronale Netze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BB24F6F-3D69-927A-A92F-4DE6D6BE0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Mathis Grün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005BF3AE-CA65-BEFA-6040-A0145934C55C}"/>
              </a:ext>
            </a:extLst>
          </p:cNvPr>
          <p:cNvSpPr txBox="1"/>
          <p:nvPr/>
        </p:nvSpPr>
        <p:spPr>
          <a:xfrm>
            <a:off x="6392739" y="5989707"/>
            <a:ext cx="4961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chemeClr val="bg2">
                    <a:lumMod val="75000"/>
                  </a:schemeClr>
                </a:solidFill>
              </a:rPr>
              <a:t>https://thenounproject.com/icon/application-1345321/</a:t>
            </a:r>
          </a:p>
        </p:txBody>
      </p:sp>
      <p:pic>
        <p:nvPicPr>
          <p:cNvPr id="11" name="Grafik 10" descr="Ein Bild, das Schwarz, Schwarzweiß, Screenshot, Dunkelheit enthält.&#10;&#10;Automatisch generierte Beschreibung">
            <a:extLst>
              <a:ext uri="{FF2B5EF4-FFF2-40B4-BE49-F238E27FC236}">
                <a16:creationId xmlns:a16="http://schemas.microsoft.com/office/drawing/2014/main" id="{681D0ED2-32C0-B09F-AA8E-E3327AC6B6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6916" y="1838816"/>
            <a:ext cx="4147368" cy="4190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562700"/>
      </p:ext>
    </p:extLst>
  </p:cSld>
  <p:clrMapOvr>
    <a:masterClrMapping/>
  </p:clrMapOvr>
  <p:transition spd="slow">
    <p:push dir="u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006E67-218C-A011-65ED-7A5ACF68C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0656359-47A9-BFC9-7CBD-CC46D33F5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8. </a:t>
            </a:r>
            <a:r>
              <a:rPr lang="en-US" sz="5400" dirty="0" err="1"/>
              <a:t>Zusammenfassung</a:t>
            </a:r>
            <a:endParaRPr lang="en-US" sz="5400" dirty="0"/>
          </a:p>
        </p:txBody>
      </p:sp>
      <p:sp>
        <p:nvSpPr>
          <p:cNvPr id="46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2621D04-EE04-686C-B11C-BCBB7FB49BD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11.02.2024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460B70-B22C-F06B-3C32-C4B8C1806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kern="120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t>Neuronale Netze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CA7FFA4-0596-8B46-1B26-58D3D828B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Mathis Grün</a:t>
            </a:r>
          </a:p>
        </p:txBody>
      </p:sp>
      <p:pic>
        <p:nvPicPr>
          <p:cNvPr id="13" name="Grafik 12" descr="Ein Bild, das Kreis, Grafiken, Screenshot, Design enthält.&#10;&#10;Automatisch generierte Beschreibung">
            <a:extLst>
              <a:ext uri="{FF2B5EF4-FFF2-40B4-BE49-F238E27FC236}">
                <a16:creationId xmlns:a16="http://schemas.microsoft.com/office/drawing/2014/main" id="{930C2568-6A60-37A3-7529-95468B0D03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4076" y="1894095"/>
            <a:ext cx="4069634" cy="4069634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07AB3775-D1BB-0AD5-5F8F-E3FDC13A506B}"/>
              </a:ext>
            </a:extLst>
          </p:cNvPr>
          <p:cNvSpPr txBox="1"/>
          <p:nvPr/>
        </p:nvSpPr>
        <p:spPr>
          <a:xfrm>
            <a:off x="3649539" y="6010763"/>
            <a:ext cx="4961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chemeClr val="bg2">
                    <a:lumMod val="75000"/>
                  </a:schemeClr>
                </a:solidFill>
              </a:rPr>
              <a:t>https://thenounproject.com/icon/conclusion-5915875/</a:t>
            </a:r>
          </a:p>
        </p:txBody>
      </p:sp>
      <p:pic>
        <p:nvPicPr>
          <p:cNvPr id="8" name="Grafik 7" descr="Ein Bild, das Entwurf, Kunst enthält.&#10;&#10;Automatisch generierte Beschreibung">
            <a:extLst>
              <a:ext uri="{FF2B5EF4-FFF2-40B4-BE49-F238E27FC236}">
                <a16:creationId xmlns:a16="http://schemas.microsoft.com/office/drawing/2014/main" id="{8FBA70F7-FD20-3E80-C146-79D7381CE9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6185" y="0"/>
            <a:ext cx="1715815" cy="144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918353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1219</Words>
  <Application>Microsoft Office PowerPoint</Application>
  <PresentationFormat>Breitbild</PresentationFormat>
  <Paragraphs>406</Paragraphs>
  <Slides>53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53</vt:i4>
      </vt:variant>
    </vt:vector>
  </HeadingPairs>
  <TitlesOfParts>
    <vt:vector size="59" baseType="lpstr">
      <vt:lpstr>Aptos</vt:lpstr>
      <vt:lpstr>Aptos Display</vt:lpstr>
      <vt:lpstr>Arial</vt:lpstr>
      <vt:lpstr>Calibri</vt:lpstr>
      <vt:lpstr>Cambria Math</vt:lpstr>
      <vt:lpstr>Office</vt:lpstr>
      <vt:lpstr>KI-Auswertungsanwendung:  Funktionsweise &amp; Training</vt:lpstr>
      <vt:lpstr>1. Einleitung</vt:lpstr>
      <vt:lpstr>2. Grundlagen</vt:lpstr>
      <vt:lpstr>2.1  Was ist KI</vt:lpstr>
      <vt:lpstr>2.2  Wie funktioniert das Ganze </vt:lpstr>
      <vt:lpstr>2.2 Wie funktioniert das Ganze </vt:lpstr>
      <vt:lpstr>2.2 Wie funktioniert das Ganze </vt:lpstr>
      <vt:lpstr>3. Mathematische Erläuterung</vt:lpstr>
      <vt:lpstr>3.1. Simulation eines Neurons</vt:lpstr>
      <vt:lpstr>3.1. Simulation eines Neurons</vt:lpstr>
      <vt:lpstr>3.1. Simulation eines Neurons</vt:lpstr>
      <vt:lpstr>3.1. Simulation eines Neurons</vt:lpstr>
      <vt:lpstr>PowerPoint-Präsentation</vt:lpstr>
      <vt:lpstr>PowerPoint-Präsentation</vt:lpstr>
      <vt:lpstr>3.2.  Optimierungsalgorithmus</vt:lpstr>
      <vt:lpstr>3.3. Gradientenverfahren</vt:lpstr>
      <vt:lpstr>3.3. Gradientenverfahren</vt:lpstr>
      <vt:lpstr>3.3. Gradientenverfahren</vt:lpstr>
      <vt:lpstr>3.3. Gradientenverfahren</vt:lpstr>
      <vt:lpstr>4. Handschrifterkennung: Ziffern 0-9</vt:lpstr>
      <vt:lpstr>4.1 Genutzte Software und Hardware </vt:lpstr>
      <vt:lpstr>4.2 Was ist der Aufbau</vt:lpstr>
      <vt:lpstr>4.2 Was ist der Aufbau</vt:lpstr>
      <vt:lpstr>4.2 Was ist der Aufbau</vt:lpstr>
      <vt:lpstr>4.2 Was ist der Aufbau</vt:lpstr>
      <vt:lpstr>5. Code Implementierung</vt:lpstr>
      <vt:lpstr>5.1 Code Grundstruktur</vt:lpstr>
      <vt:lpstr>PowerPoint-Präsentation</vt:lpstr>
      <vt:lpstr>PowerPoint-Präsentation</vt:lpstr>
      <vt:lpstr>PowerPoint-Präsentation</vt:lpstr>
      <vt:lpstr>5.2 Trainings Prozess</vt:lpstr>
      <vt:lpstr>PowerPoint-Präsentation</vt:lpstr>
      <vt:lpstr>5.2 Trainings Prozess</vt:lpstr>
      <vt:lpstr>PowerPoint-Präsentation</vt:lpstr>
      <vt:lpstr>5.2 Trainings Prozess</vt:lpstr>
      <vt:lpstr>6. Evaluation</vt:lpstr>
      <vt:lpstr>6.1 Gängige Parameter</vt:lpstr>
      <vt:lpstr>6.1.1 Learning rate und epochs</vt:lpstr>
      <vt:lpstr>6.1.2 hidden nodes bestimmung</vt:lpstr>
      <vt:lpstr>6.1.2 Evaluation</vt:lpstr>
      <vt:lpstr>PowerPoint-Präsentation</vt:lpstr>
      <vt:lpstr>6.1.2 Evaluation</vt:lpstr>
      <vt:lpstr>6.2 Unterschiedliche Parameter</vt:lpstr>
      <vt:lpstr>6.2.1 Implementierung</vt:lpstr>
      <vt:lpstr>6.2.1 Implementierung</vt:lpstr>
      <vt:lpstr>6.2.2 Evaluation der Parameter</vt:lpstr>
      <vt:lpstr>PowerPoint-Präsentation</vt:lpstr>
      <vt:lpstr>PowerPoint-Präsentation</vt:lpstr>
      <vt:lpstr>PowerPoint-Präsentation</vt:lpstr>
      <vt:lpstr>6.3 Evaluation der Parameter</vt:lpstr>
      <vt:lpstr>6.3 Generalization und Ockham's razor</vt:lpstr>
      <vt:lpstr>7. Demonstration</vt:lpstr>
      <vt:lpstr>8. Zusammenfassung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KI-Auswertungsanwendung: Funktionsweise &amp; Training</dc:title>
  <dc:creator>Grün, Math</dc:creator>
  <cp:lastModifiedBy>Mathis Gruen</cp:lastModifiedBy>
  <cp:revision>23</cp:revision>
  <dcterms:created xsi:type="dcterms:W3CDTF">2024-02-11T16:19:58Z</dcterms:created>
  <dcterms:modified xsi:type="dcterms:W3CDTF">2024-02-19T18:40:46Z</dcterms:modified>
</cp:coreProperties>
</file>